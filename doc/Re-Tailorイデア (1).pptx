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434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58C53-A8AB-A6F9-417B-61BB4924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3993E-F799-0462-90E8-376A75696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92439-C862-FE0A-ABF2-388D567F8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45764-2FC3-2DAB-FAC8-8F1801EC23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51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ホーム　(Home)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989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Re:Tailor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868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  ♡  カート  会員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926080" cy="274320"/>
          </a:xfrm>
          <a:prstGeom prst="rect">
            <a:avLst/>
          </a:prstGeom>
          <a:solidFill>
            <a:srgbClr val="FBF1D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20700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おかえりなさい、〇〇さん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777240" cy="256032"/>
          </a:xfrm>
          <a:prstGeom prst="rect">
            <a:avLst/>
          </a:prstGeom>
          <a:solidFill>
            <a:srgbClr val="1C1C1A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Made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0" y="1508760"/>
            <a:ext cx="777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508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Arrival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94560" y="150876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94560" y="1508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03120" y="1801368"/>
            <a:ext cx="6400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03120" y="18013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88920" y="1801368"/>
            <a:ext cx="685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88920" y="180136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" y="2084832"/>
            <a:ext cx="2926080" cy="457200"/>
          </a:xfrm>
          <a:prstGeom prst="rect">
            <a:avLst/>
          </a:prstGeom>
          <a:solidFill>
            <a:srgbClr val="F4F3EF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112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Not sure what matches?</a:t>
            </a:r>
            <a:endParaRPr lang="en-US" sz="650" dirty="0"/>
          </a:p>
          <a:p>
            <a:pPr marL="0" indent="0" algn="l">
              <a:buNone/>
            </a:pPr>
            <a:r>
              <a:rPr lang="en-US" sz="6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our AI coordinate advisor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2606040" y="2203704"/>
            <a:ext cx="777240" cy="237744"/>
          </a:xfrm>
          <a:prstGeom prst="rect">
            <a:avLst/>
          </a:prstGeom>
          <a:solidFill>
            <a:srgbClr val="3F4B32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06040" y="220370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styled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48640" y="26517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あなたへのおすすめ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2852928"/>
            <a:ext cx="914400" cy="68580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2852928"/>
            <a:ext cx="914400" cy="68580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V="1">
            <a:off x="548640" y="353872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536192" y="2852928"/>
            <a:ext cx="914400" cy="68580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536192" y="2852928"/>
            <a:ext cx="914400" cy="68580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V="1">
            <a:off x="1536192" y="353872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23744" y="2852928"/>
            <a:ext cx="914400" cy="68580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23744" y="2852928"/>
            <a:ext cx="914400" cy="68580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V="1">
            <a:off x="2523744" y="353872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34564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すべてのカテゴリ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76656" y="3675888"/>
            <a:ext cx="329184" cy="329184"/>
          </a:xfrm>
          <a:prstGeom prst="ellipse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" y="40142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アウター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1261872" y="3675888"/>
            <a:ext cx="329184" cy="329184"/>
          </a:xfrm>
          <a:prstGeom prst="ellipse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60704" y="40142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帽子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1847088" y="3675888"/>
            <a:ext cx="329184" cy="329184"/>
          </a:xfrm>
          <a:prstGeom prst="ellipse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645920" y="40142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バッグ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2432304" y="3675888"/>
            <a:ext cx="329184" cy="329184"/>
          </a:xfrm>
          <a:prstGeom prst="ellipse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231136" y="40142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シューズ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3017520" y="3675888"/>
            <a:ext cx="329184" cy="329184"/>
          </a:xfrm>
          <a:prstGeom prst="ellipse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816352" y="40142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小物</a:t>
            </a:r>
            <a:endParaRPr lang="en-US" sz="550" dirty="0"/>
          </a:p>
        </p:txBody>
      </p:sp>
      <p:sp>
        <p:nvSpPr>
          <p:cNvPr id="44" name="Text 42"/>
          <p:cNvSpPr/>
          <p:nvPr/>
        </p:nvSpPr>
        <p:spPr>
          <a:xfrm>
            <a:off x="548640" y="4160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商品一覧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8640" y="434340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48640" y="434340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 flipV="1">
            <a:off x="548640" y="484632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8640" y="48554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548640" y="496519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1554480" y="434340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554480" y="434340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 flipV="1">
            <a:off x="1554480" y="484632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554480" y="48554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1554480" y="496519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2560320" y="434340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560320" y="434340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 flipV="1">
            <a:off x="2560320" y="484632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560320" y="48554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2560320" y="496519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548640" y="512064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48640" y="512064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 flipV="1">
            <a:off x="548640" y="562356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48640" y="563270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548640" y="574243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1554480" y="512064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554480" y="512064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 flipV="1">
            <a:off x="1554480" y="562356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554480" y="563270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69" name="Text 67"/>
          <p:cNvSpPr/>
          <p:nvPr/>
        </p:nvSpPr>
        <p:spPr>
          <a:xfrm>
            <a:off x="1554480" y="574243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2560320" y="512064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560320" y="512064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 flipV="1">
            <a:off x="2560320" y="562356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560320" y="563270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2560320" y="574243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548640" y="6309360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48640" y="636422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ホーム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1133856" y="636422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1719072" y="636422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出品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2304288" y="636422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お気に入り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2889504" y="636422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会員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出品一覧　(My Listings)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出品一覧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71800" y="850392"/>
            <a:ext cx="502920" cy="256032"/>
          </a:xfrm>
          <a:prstGeom prst="rect">
            <a:avLst/>
          </a:prstGeom>
          <a:solidFill>
            <a:srgbClr val="3F4B32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8503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出品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48640" y="1207008"/>
            <a:ext cx="914400" cy="256032"/>
          </a:xfrm>
          <a:prstGeom prst="rect">
            <a:avLst/>
          </a:prstGeom>
          <a:solidFill>
            <a:srgbClr val="1C1C1A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販売中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508760" y="1207008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08760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売却済み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68880" y="1207008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下書き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1600200"/>
            <a:ext cx="2926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" y="1673352"/>
            <a:ext cx="777240" cy="859536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" y="1673352"/>
            <a:ext cx="777240" cy="859536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621792" y="2532888"/>
            <a:ext cx="77724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6304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商品名テキストが入ります 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63040" y="19842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¥ 3,200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463040" y="2240280"/>
            <a:ext cx="731520" cy="219456"/>
          </a:xfrm>
          <a:prstGeom prst="rect">
            <a:avLst/>
          </a:prstGeom>
          <a:solidFill>
            <a:srgbClr val="E7EBE0"/>
          </a:solidFill>
          <a:ln w="12700">
            <a:solidFill>
              <a:srgbClr val="E7E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63040" y="22402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販売中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17520" y="1673352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2715768"/>
            <a:ext cx="2926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" y="2788920"/>
            <a:ext cx="777240" cy="859536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" y="2788920"/>
            <a:ext cx="777240" cy="859536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V="1">
            <a:off x="621792" y="3648456"/>
            <a:ext cx="77724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63040" y="28072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商品名テキストが入ります B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63040" y="30998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¥ 1,800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463040" y="3355848"/>
            <a:ext cx="731520" cy="219456"/>
          </a:xfrm>
          <a:prstGeom prst="rect">
            <a:avLst/>
          </a:prstGeom>
          <a:solidFill>
            <a:srgbClr val="E7EBE0"/>
          </a:solidFill>
          <a:ln w="12700">
            <a:solidFill>
              <a:srgbClr val="E7E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63040" y="33558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販売中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17520" y="2788920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3831336"/>
            <a:ext cx="2926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1792" y="3904488"/>
            <a:ext cx="777240" cy="859536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1792" y="3904488"/>
            <a:ext cx="777240" cy="859536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V="1">
            <a:off x="621792" y="4764024"/>
            <a:ext cx="77724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463040" y="39227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商品名テキストが入ります C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463040" y="42153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¥ 5,000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463040" y="4471416"/>
            <a:ext cx="731520" cy="219456"/>
          </a:xfrm>
          <a:prstGeom prst="rect">
            <a:avLst/>
          </a:prstGeom>
          <a:solidFill>
            <a:srgbClr val="EDEDEA"/>
          </a:solidFill>
          <a:ln w="12700">
            <a:solidFill>
              <a:srgbClr val="ED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463040" y="44714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売却済み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017520" y="3904488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" y="4946904"/>
            <a:ext cx="2926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1792" y="5020056"/>
            <a:ext cx="777240" cy="859536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1792" y="5020056"/>
            <a:ext cx="777240" cy="859536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flipV="1">
            <a:off x="621792" y="5879592"/>
            <a:ext cx="77724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463040" y="50383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商品名テキストが入ります 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463040" y="53309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¥ 2,400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463040" y="5586984"/>
            <a:ext cx="731520" cy="219456"/>
          </a:xfrm>
          <a:prstGeom prst="rect">
            <a:avLst/>
          </a:prstGeom>
          <a:solidFill>
            <a:srgbClr val="FBF1DE"/>
          </a:solidFill>
          <a:ln w="12700">
            <a:solidFill>
              <a:srgbClr val="FBF1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463040" y="55869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下書き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017520" y="5020056"/>
            <a:ext cx="384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00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D6626AE2-1EE3-74DD-7841-763A42C5FCD5}"/>
              </a:ext>
            </a:extLst>
          </p:cNvPr>
          <p:cNvSpPr txBox="1"/>
          <p:nvPr/>
        </p:nvSpPr>
        <p:spPr>
          <a:xfrm>
            <a:off x="473710" y="74121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2CB515F9-04FA-D65D-BCA2-5D66894BF915}"/>
              </a:ext>
            </a:extLst>
          </p:cNvPr>
          <p:cNvSpPr txBox="1"/>
          <p:nvPr/>
        </p:nvSpPr>
        <p:spPr>
          <a:xfrm>
            <a:off x="2683510" y="77216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261F222B-7C28-D35D-2E10-424DE4E05E71}"/>
              </a:ext>
            </a:extLst>
          </p:cNvPr>
          <p:cNvSpPr txBox="1"/>
          <p:nvPr/>
        </p:nvSpPr>
        <p:spPr>
          <a:xfrm>
            <a:off x="1370330" y="1028192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A31F4146-635C-5D3D-1EB9-28F6A600B415}"/>
              </a:ext>
            </a:extLst>
          </p:cNvPr>
          <p:cNvSpPr txBox="1"/>
          <p:nvPr/>
        </p:nvSpPr>
        <p:spPr>
          <a:xfrm>
            <a:off x="443992" y="105183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B81ECBFA-B48F-0625-BA74-EEC7F3C02727}"/>
              </a:ext>
            </a:extLst>
          </p:cNvPr>
          <p:cNvSpPr txBox="1"/>
          <p:nvPr/>
        </p:nvSpPr>
        <p:spPr>
          <a:xfrm>
            <a:off x="2410968" y="104675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E25F40BD-4734-BEB9-1B8D-4ECDF2FC6DF5}"/>
              </a:ext>
            </a:extLst>
          </p:cNvPr>
          <p:cNvSpPr txBox="1"/>
          <p:nvPr/>
        </p:nvSpPr>
        <p:spPr>
          <a:xfrm>
            <a:off x="469392" y="153416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05DFCE13-6DCC-9BAE-3BB3-DBC3047D5E5F}"/>
              </a:ext>
            </a:extLst>
          </p:cNvPr>
          <p:cNvSpPr txBox="1"/>
          <p:nvPr/>
        </p:nvSpPr>
        <p:spPr>
          <a:xfrm>
            <a:off x="1326388" y="1849166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⑧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33FF10B7-C841-EA7B-DD3A-7FEF837F1C33}"/>
              </a:ext>
            </a:extLst>
          </p:cNvPr>
          <p:cNvSpPr txBox="1"/>
          <p:nvPr/>
        </p:nvSpPr>
        <p:spPr>
          <a:xfrm>
            <a:off x="1336040" y="160020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⑦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AE4BB9C7-DEFD-AAA1-42E5-088D9386B0F6}"/>
              </a:ext>
            </a:extLst>
          </p:cNvPr>
          <p:cNvSpPr txBox="1"/>
          <p:nvPr/>
        </p:nvSpPr>
        <p:spPr>
          <a:xfrm>
            <a:off x="2862072" y="191890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⑨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C36D897D-ED53-9CBB-A9AB-6BF343187C08}"/>
              </a:ext>
            </a:extLst>
          </p:cNvPr>
          <p:cNvSpPr txBox="1"/>
          <p:nvPr/>
        </p:nvSpPr>
        <p:spPr>
          <a:xfrm>
            <a:off x="2871724" y="210616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⑩</a:t>
            </a: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E096D1B0-7116-2E37-F118-79CA2DA04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252" y="147055"/>
            <a:ext cx="3511764" cy="6544254"/>
          </a:xfrm>
          <a:prstGeom prst="rect">
            <a:avLst/>
          </a:prstGeom>
        </p:spPr>
      </p:pic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A8DC7644-ACB2-3F55-457E-CA0D2D19CBC0}"/>
              </a:ext>
            </a:extLst>
          </p:cNvPr>
          <p:cNvSpPr txBox="1"/>
          <p:nvPr/>
        </p:nvSpPr>
        <p:spPr>
          <a:xfrm>
            <a:off x="4794838" y="25146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B9FD1796-0ADE-8DDD-4B90-27A4D06C1D2B}"/>
              </a:ext>
            </a:extLst>
          </p:cNvPr>
          <p:cNvSpPr txBox="1"/>
          <p:nvPr/>
        </p:nvSpPr>
        <p:spPr>
          <a:xfrm>
            <a:off x="5804408" y="23926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C7BBEF98-AB86-8B57-7B65-056A8D5CE876}"/>
              </a:ext>
            </a:extLst>
          </p:cNvPr>
          <p:cNvSpPr txBox="1"/>
          <p:nvPr/>
        </p:nvSpPr>
        <p:spPr>
          <a:xfrm>
            <a:off x="5397834" y="23926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778E589F-E6C1-4C8A-B550-212FFB9091EB}"/>
              </a:ext>
            </a:extLst>
          </p:cNvPr>
          <p:cNvSpPr txBox="1"/>
          <p:nvPr/>
        </p:nvSpPr>
        <p:spPr>
          <a:xfrm>
            <a:off x="7548024" y="27298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CC2CF268-9D53-FD72-B5BE-BD3DA1E78156}"/>
              </a:ext>
            </a:extLst>
          </p:cNvPr>
          <p:cNvSpPr txBox="1"/>
          <p:nvPr/>
        </p:nvSpPr>
        <p:spPr>
          <a:xfrm>
            <a:off x="7268798" y="29934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0F9BD596-E093-C313-A306-B9634E80A5A5}"/>
              </a:ext>
            </a:extLst>
          </p:cNvPr>
          <p:cNvSpPr txBox="1"/>
          <p:nvPr/>
        </p:nvSpPr>
        <p:spPr>
          <a:xfrm>
            <a:off x="7546326" y="22350"/>
            <a:ext cx="7602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⑦⑧⑨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0AF2030F-B925-23F9-DC05-F098ADAD24DD}"/>
              </a:ext>
            </a:extLst>
          </p:cNvPr>
          <p:cNvSpPr txBox="1"/>
          <p:nvPr/>
        </p:nvSpPr>
        <p:spPr>
          <a:xfrm>
            <a:off x="6130029" y="23926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⑩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9A0A1B8-460A-6BAC-2F07-DABC48C266C9}"/>
              </a:ext>
            </a:extLst>
          </p:cNvPr>
          <p:cNvSpPr txBox="1"/>
          <p:nvPr/>
        </p:nvSpPr>
        <p:spPr>
          <a:xfrm>
            <a:off x="4794838" y="569527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⑪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3B0F951F-0176-3F33-BA23-3F0CAF7F5C4E}"/>
              </a:ext>
            </a:extLst>
          </p:cNvPr>
          <p:cNvSpPr txBox="1"/>
          <p:nvPr/>
        </p:nvSpPr>
        <p:spPr>
          <a:xfrm>
            <a:off x="7139512" y="246754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⑫</a:t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229CAA3E-26C0-CD45-76D7-255191448F96}"/>
              </a:ext>
            </a:extLst>
          </p:cNvPr>
          <p:cNvSpPr txBox="1"/>
          <p:nvPr/>
        </p:nvSpPr>
        <p:spPr>
          <a:xfrm>
            <a:off x="5184554" y="3188289"/>
            <a:ext cx="2803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㉒　　㉑　　⑳　　㉓　　⑲　　㉔</a:t>
            </a:r>
          </a:p>
        </p:txBody>
      </p:sp>
      <p:pic>
        <p:nvPicPr>
          <p:cNvPr id="76" name="図 75">
            <a:extLst>
              <a:ext uri="{FF2B5EF4-FFF2-40B4-BE49-F238E27FC236}">
                <a16:creationId xmlns:a16="http://schemas.microsoft.com/office/drawing/2014/main" id="{BC25E9B4-4011-7C0C-CBF1-9B4A58606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6318" y="2922164"/>
            <a:ext cx="2513031" cy="2991464"/>
          </a:xfrm>
          <a:prstGeom prst="rect">
            <a:avLst/>
          </a:prstGeom>
        </p:spPr>
      </p:pic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38D594E0-1F7C-334D-C7E5-966406924651}"/>
              </a:ext>
            </a:extLst>
          </p:cNvPr>
          <p:cNvSpPr/>
          <p:nvPr/>
        </p:nvSpPr>
        <p:spPr>
          <a:xfrm>
            <a:off x="4940634" y="3904488"/>
            <a:ext cx="3257216" cy="265416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371D9315-357D-45A1-06C8-F1FD3E47DBD6}"/>
              </a:ext>
            </a:extLst>
          </p:cNvPr>
          <p:cNvSpPr txBox="1"/>
          <p:nvPr/>
        </p:nvSpPr>
        <p:spPr>
          <a:xfrm>
            <a:off x="4794838" y="372160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⑬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B2E8E448-5DFC-F9AE-B927-16607DAD6144}"/>
              </a:ext>
            </a:extLst>
          </p:cNvPr>
          <p:cNvSpPr txBox="1"/>
          <p:nvPr/>
        </p:nvSpPr>
        <p:spPr>
          <a:xfrm>
            <a:off x="8721798" y="3087993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⑭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CAC16022-4008-5548-BD24-7E2A59315DA3}"/>
              </a:ext>
            </a:extLst>
          </p:cNvPr>
          <p:cNvSpPr txBox="1"/>
          <p:nvPr/>
        </p:nvSpPr>
        <p:spPr>
          <a:xfrm>
            <a:off x="8735006" y="4871581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⑯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6F937DB2-9CB3-C1BF-649E-8A102C6AC26B}"/>
              </a:ext>
            </a:extLst>
          </p:cNvPr>
          <p:cNvSpPr txBox="1"/>
          <p:nvPr/>
        </p:nvSpPr>
        <p:spPr>
          <a:xfrm>
            <a:off x="8735006" y="428611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⑰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4C46C8D9-2610-0523-1608-ECE4E46E4DCA}"/>
              </a:ext>
            </a:extLst>
          </p:cNvPr>
          <p:cNvSpPr txBox="1"/>
          <p:nvPr/>
        </p:nvSpPr>
        <p:spPr>
          <a:xfrm>
            <a:off x="8735006" y="456310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⑮</a:t>
            </a: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B3D3AF18-4BE6-EF11-17B1-1BE81F62F473}"/>
              </a:ext>
            </a:extLst>
          </p:cNvPr>
          <p:cNvSpPr txBox="1"/>
          <p:nvPr/>
        </p:nvSpPr>
        <p:spPr>
          <a:xfrm>
            <a:off x="8741610" y="5513866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⑱</a:t>
            </a: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F075AB93-711B-6580-9E6B-A2CB106E2131}"/>
              </a:ext>
            </a:extLst>
          </p:cNvPr>
          <p:cNvSpPr txBox="1"/>
          <p:nvPr/>
        </p:nvSpPr>
        <p:spPr>
          <a:xfrm>
            <a:off x="10525706" y="5146917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㉕</a:t>
            </a: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9E3AFCE4-D151-EBF2-DA06-9F5B980DDA44}"/>
              </a:ext>
            </a:extLst>
          </p:cNvPr>
          <p:cNvSpPr txBox="1"/>
          <p:nvPr/>
        </p:nvSpPr>
        <p:spPr>
          <a:xfrm>
            <a:off x="9981775" y="5153775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出品内容編集　(Edit Listing)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出品内容編集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71800" y="850392"/>
            <a:ext cx="502920" cy="256032"/>
          </a:xfrm>
          <a:prstGeom prst="rect">
            <a:avLst/>
          </a:prstGeom>
          <a:solidFill>
            <a:srgbClr val="3F4B32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8503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120700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商品画像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658368" cy="65836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658368" cy="65836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548640" y="2029968"/>
            <a:ext cx="658368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98448" y="1371600"/>
            <a:ext cx="658368" cy="65836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98448" y="1371600"/>
            <a:ext cx="658368" cy="65836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V="1">
            <a:off x="1298448" y="2029968"/>
            <a:ext cx="658368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48256" y="1371600"/>
            <a:ext cx="658368" cy="65836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48256" y="1371600"/>
            <a:ext cx="658368" cy="65836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2048256" y="2029968"/>
            <a:ext cx="658368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98064" y="1371600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98064" y="1371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215798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商品名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2313432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2313432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商品名を入力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8640" y="27889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48640" y="2944368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2944368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カテゴリを選択  ▾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48640" y="341985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8640" y="3575304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" y="3575304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価格を入力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48640" y="40507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00" dirty="0">
                <a:solidFill>
                  <a:srgbClr val="8A887F"/>
                </a:solidFill>
                <a:latin typeface="Arial" pitchFamily="34" charset="0"/>
                <a:cs typeface="Arial" pitchFamily="34" charset="-120"/>
              </a:rPr>
              <a:t>状態記入欄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8640" y="488416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00" dirty="0">
                <a:solidFill>
                  <a:srgbClr val="8A887F"/>
                </a:solidFill>
                <a:latin typeface="Arial" pitchFamily="34" charset="0"/>
                <a:cs typeface="Arial" pitchFamily="34" charset="-120"/>
              </a:rPr>
              <a:t>その他詳細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48640" y="5050698"/>
            <a:ext cx="2926080" cy="667003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 altLang="ja-JP" sz="800" dirty="0"/>
          </a:p>
          <a:p>
            <a:endParaRPr lang="en-US" altLang="ja-JP" sz="800" dirty="0"/>
          </a:p>
          <a:p>
            <a:r>
              <a:rPr lang="ja-JP" altLang="en-US" sz="800" dirty="0"/>
              <a:t>汚れや傷の有無</a:t>
            </a:r>
            <a:endParaRPr lang="en-US" sz="800" dirty="0"/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B2D1F60B-90D5-CB07-F965-74D95005D1E1}"/>
              </a:ext>
            </a:extLst>
          </p:cNvPr>
          <p:cNvGrpSpPr/>
          <p:nvPr/>
        </p:nvGrpSpPr>
        <p:grpSpPr>
          <a:xfrm>
            <a:off x="498729" y="5970801"/>
            <a:ext cx="2957703" cy="296672"/>
            <a:chOff x="548640" y="5427472"/>
            <a:chExt cx="2957703" cy="296672"/>
          </a:xfrm>
        </p:grpSpPr>
        <p:sp>
          <p:nvSpPr>
            <p:cNvPr id="36" name="Shape 34"/>
            <p:cNvSpPr/>
            <p:nvPr/>
          </p:nvSpPr>
          <p:spPr>
            <a:xfrm>
              <a:off x="580263" y="5427472"/>
              <a:ext cx="2926080" cy="292608"/>
            </a:xfrm>
            <a:prstGeom prst="rect">
              <a:avLst/>
            </a:prstGeom>
            <a:solidFill>
              <a:srgbClr val="3F4B32"/>
            </a:solidFill>
            <a:ln w="12700">
              <a:solidFill>
                <a:srgbClr val="C7C4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548640" y="5431536"/>
              <a:ext cx="2926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更新する</a:t>
              </a:r>
              <a:endParaRPr lang="en-US" sz="750" dirty="0"/>
            </a:p>
          </p:txBody>
        </p:sp>
      </p:grpSp>
      <p:sp>
        <p:nvSpPr>
          <p:cNvPr id="38" name="Text 36"/>
          <p:cNvSpPr/>
          <p:nvPr/>
        </p:nvSpPr>
        <p:spPr>
          <a:xfrm>
            <a:off x="548640" y="62814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6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出品を取り下げる</a:t>
            </a:r>
            <a:endParaRPr lang="en-US" sz="75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6F3CCD16-605D-2413-16AC-1B7A55994DC1}"/>
              </a:ext>
            </a:extLst>
          </p:cNvPr>
          <p:cNvSpPr txBox="1"/>
          <p:nvPr/>
        </p:nvSpPr>
        <p:spPr>
          <a:xfrm>
            <a:off x="473710" y="74121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088CE6D-C644-7F1C-AF32-5A20475A5127}"/>
              </a:ext>
            </a:extLst>
          </p:cNvPr>
          <p:cNvSpPr txBox="1"/>
          <p:nvPr/>
        </p:nvSpPr>
        <p:spPr>
          <a:xfrm>
            <a:off x="2715006" y="721036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343D4260-58D5-F76C-6CBE-778A4E4D337F}"/>
              </a:ext>
            </a:extLst>
          </p:cNvPr>
          <p:cNvSpPr txBox="1"/>
          <p:nvPr/>
        </p:nvSpPr>
        <p:spPr>
          <a:xfrm>
            <a:off x="2693543" y="123443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2299A29B-ADDC-D99C-7470-72768F750DE0}"/>
              </a:ext>
            </a:extLst>
          </p:cNvPr>
          <p:cNvSpPr txBox="1"/>
          <p:nvPr/>
        </p:nvSpPr>
        <p:spPr>
          <a:xfrm>
            <a:off x="332994" y="116840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8F224420-34CF-4C69-74F8-14016F926817}"/>
              </a:ext>
            </a:extLst>
          </p:cNvPr>
          <p:cNvSpPr txBox="1"/>
          <p:nvPr/>
        </p:nvSpPr>
        <p:spPr>
          <a:xfrm>
            <a:off x="369570" y="220181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1DE3F193-6115-9CB9-F5A5-B1A4A056A9D2}"/>
              </a:ext>
            </a:extLst>
          </p:cNvPr>
          <p:cNvSpPr txBox="1"/>
          <p:nvPr/>
        </p:nvSpPr>
        <p:spPr>
          <a:xfrm>
            <a:off x="342773" y="3281356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⑦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B48D121A-4B3E-9FFB-3330-F0F6C4A3C1D8}"/>
              </a:ext>
            </a:extLst>
          </p:cNvPr>
          <p:cNvSpPr txBox="1"/>
          <p:nvPr/>
        </p:nvSpPr>
        <p:spPr>
          <a:xfrm>
            <a:off x="357124" y="262164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C70D6524-B6A4-D9E4-625D-698E72C940C5}"/>
              </a:ext>
            </a:extLst>
          </p:cNvPr>
          <p:cNvSpPr txBox="1"/>
          <p:nvPr/>
        </p:nvSpPr>
        <p:spPr>
          <a:xfrm>
            <a:off x="403479" y="5778591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⑬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E782461B-CDBF-51E2-AF7C-34FF16897872}"/>
              </a:ext>
            </a:extLst>
          </p:cNvPr>
          <p:cNvSpPr txBox="1"/>
          <p:nvPr/>
        </p:nvSpPr>
        <p:spPr>
          <a:xfrm>
            <a:off x="371094" y="4063457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⑨</a:t>
            </a:r>
          </a:p>
        </p:txBody>
      </p:sp>
      <p:sp>
        <p:nvSpPr>
          <p:cNvPr id="96" name="Shape 32">
            <a:extLst>
              <a:ext uri="{FF2B5EF4-FFF2-40B4-BE49-F238E27FC236}">
                <a16:creationId xmlns:a16="http://schemas.microsoft.com/office/drawing/2014/main" id="{DF5EA6E9-1E9F-3065-2E97-8537688F4022}"/>
              </a:ext>
            </a:extLst>
          </p:cNvPr>
          <p:cNvSpPr/>
          <p:nvPr/>
        </p:nvSpPr>
        <p:spPr>
          <a:xfrm>
            <a:off x="566928" y="4215522"/>
            <a:ext cx="2926080" cy="581013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86" y="4163801"/>
            <a:ext cx="2779776" cy="597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〇 </a:t>
            </a:r>
            <a:r>
              <a:rPr lang="en-US" sz="750" dirty="0" err="1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</a:t>
            </a: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〇 中古</a:t>
            </a:r>
            <a:endParaRPr lang="en-US" altLang="ja-JP" sz="750" dirty="0">
              <a:solidFill>
                <a:srgbClr val="1C1C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altLang="ja-JP" sz="750" dirty="0">
              <a:solidFill>
                <a:srgbClr val="1C1C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素材：</a:t>
            </a:r>
            <a:endParaRPr lang="en-US" altLang="ja-JP" sz="750" dirty="0">
              <a:solidFill>
                <a:srgbClr val="1C1C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BA210D59-CCB2-7355-151A-6CC190BD42AF}"/>
              </a:ext>
            </a:extLst>
          </p:cNvPr>
          <p:cNvSpPr txBox="1"/>
          <p:nvPr/>
        </p:nvSpPr>
        <p:spPr>
          <a:xfrm>
            <a:off x="951484" y="410972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⑩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D0C0CA38-B613-A3B8-ECC7-87510B340921}"/>
              </a:ext>
            </a:extLst>
          </p:cNvPr>
          <p:cNvSpPr txBox="1"/>
          <p:nvPr/>
        </p:nvSpPr>
        <p:spPr>
          <a:xfrm>
            <a:off x="352933" y="4367566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⑧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EDE69B7-925D-B035-B2EE-71EC34BE9F70}"/>
              </a:ext>
            </a:extLst>
          </p:cNvPr>
          <p:cNvSpPr txBox="1"/>
          <p:nvPr/>
        </p:nvSpPr>
        <p:spPr>
          <a:xfrm>
            <a:off x="1336040" y="6267473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⑭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9F9DA2E-8183-95F4-D2ED-551585913FBF}"/>
              </a:ext>
            </a:extLst>
          </p:cNvPr>
          <p:cNvSpPr txBox="1"/>
          <p:nvPr/>
        </p:nvSpPr>
        <p:spPr>
          <a:xfrm>
            <a:off x="369570" y="481366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⑫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9D0194E-EACC-59CE-1FF5-75276AAB9812}"/>
              </a:ext>
            </a:extLst>
          </p:cNvPr>
          <p:cNvSpPr txBox="1"/>
          <p:nvPr/>
        </p:nvSpPr>
        <p:spPr>
          <a:xfrm>
            <a:off x="403479" y="5176777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出品取り下げ　(Take Down Listing)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7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出品内容編集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743200" cy="777240"/>
          </a:xfrm>
          <a:prstGeom prst="rect">
            <a:avLst/>
          </a:prstGeom>
          <a:solidFill>
            <a:srgbClr val="FBFBFA"/>
          </a:solidFill>
          <a:ln w="12700">
            <a:solidFill>
              <a:srgbClr val="E4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743200" cy="777240"/>
          </a:xfrm>
          <a:prstGeom prst="rect">
            <a:avLst/>
          </a:prstGeom>
          <a:solidFill>
            <a:srgbClr val="FBFBFA"/>
          </a:solidFill>
          <a:ln w="12700">
            <a:solidFill>
              <a:srgbClr val="E4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1C1C1A">
              <a:alpha val="45000"/>
            </a:srgbClr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26517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16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出品を取り下げますか？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この商品は一覧から削除されます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理由を選択してください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22960" y="3675888"/>
            <a:ext cx="2377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" y="367588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他で売れた／出品をやめる  ▾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822960" y="4096512"/>
            <a:ext cx="1143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096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キャンセル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57400" y="4096512"/>
            <a:ext cx="1143000" cy="292608"/>
          </a:xfrm>
          <a:prstGeom prst="rect">
            <a:avLst/>
          </a:prstGeom>
          <a:solidFill>
            <a:srgbClr val="A6392E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57400" y="4096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取り下げる</a:t>
            </a:r>
            <a:endParaRPr lang="en-US" sz="75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54F93F2-FBBF-F60D-0C8C-AC24029CE9DC}"/>
              </a:ext>
            </a:extLst>
          </p:cNvPr>
          <p:cNvSpPr txBox="1"/>
          <p:nvPr/>
        </p:nvSpPr>
        <p:spPr>
          <a:xfrm>
            <a:off x="685800" y="335450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68D4FDD-68F5-ABE3-AA6E-8FDD041498F2}"/>
              </a:ext>
            </a:extLst>
          </p:cNvPr>
          <p:cNvSpPr txBox="1"/>
          <p:nvPr/>
        </p:nvSpPr>
        <p:spPr>
          <a:xfrm>
            <a:off x="1828800" y="3973591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1F52C5F-92E5-FF77-01E7-8E5E7EC3002B}"/>
              </a:ext>
            </a:extLst>
          </p:cNvPr>
          <p:cNvSpPr txBox="1"/>
          <p:nvPr/>
        </p:nvSpPr>
        <p:spPr>
          <a:xfrm>
            <a:off x="640080" y="396848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検索・商品一覧　(Search / Filter + Product List)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5568" y="868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キーワードで検索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090672" y="8686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207008"/>
            <a:ext cx="685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20700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 ▾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80160" y="1207008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120700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サイズ ▾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20240" y="1207008"/>
            <a:ext cx="7315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20240" y="12070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価格帯 ▾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97480" y="1207008"/>
            <a:ext cx="7315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97480" y="12070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状態 ▾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142件の商品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286000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並び替え：新着順 ▾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48640" y="1810512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1810512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548640" y="237744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3865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548640" y="250545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1554480" y="1810512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54480" y="1810512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V="1">
            <a:off x="1554480" y="237744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54480" y="23865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1554480" y="250545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2560320" y="1810512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0" y="1810512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V="1">
            <a:off x="2560320" y="237744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0" y="23865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2560320" y="250545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548640" y="2679192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2679192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V="1">
            <a:off x="548640" y="324612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32552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548640" y="33741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1554480" y="2679192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554480" y="2679192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flipV="1">
            <a:off x="1554480" y="324612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554480" y="32552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1554480" y="33741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2560320" y="2679192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560320" y="2679192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 flipV="1">
            <a:off x="2560320" y="324612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560320" y="32552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2560320" y="33741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548640" y="3547872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48640" y="3547872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 flipV="1">
            <a:off x="548640" y="411480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8640" y="41239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548640" y="424281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1554480" y="3547872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554480" y="3547872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 flipV="1">
            <a:off x="1554480" y="411480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554480" y="41239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1554480" y="424281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2560320" y="3547872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560320" y="3547872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 flipV="1">
            <a:off x="2560320" y="411480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560320" y="41239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2560320" y="424281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3977640" y="83210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087368" y="138417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087368" y="138417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434840" y="90525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検索バー：キーワード入力＋フィルターアイコン</a:t>
            </a:r>
            <a:endParaRPr lang="en-US" sz="1200" b="1" dirty="0"/>
          </a:p>
        </p:txBody>
      </p:sp>
      <p:sp>
        <p:nvSpPr>
          <p:cNvPr id="68" name="Shape 66"/>
          <p:cNvSpPr/>
          <p:nvPr/>
        </p:nvSpPr>
        <p:spPr>
          <a:xfrm>
            <a:off x="3474720" y="1005840"/>
            <a:ext cx="502920" cy="497205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977640" y="228371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087368" y="283578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087368" y="283578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434840" y="235686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フィルターチップ：カテゴリ／サイズ／価格帯／状態で絞り込み</a:t>
            </a:r>
            <a:endParaRPr lang="en-US" sz="1200" b="1" dirty="0"/>
          </a:p>
        </p:txBody>
      </p:sp>
      <p:sp>
        <p:nvSpPr>
          <p:cNvPr id="73" name="Shape 71"/>
          <p:cNvSpPr/>
          <p:nvPr/>
        </p:nvSpPr>
        <p:spPr>
          <a:xfrm>
            <a:off x="3474720" y="1325880"/>
            <a:ext cx="502920" cy="1628775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977640" y="373532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087368" y="428739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087368" y="428739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434840" y="380847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検索結果件数の表示＋並び替え（新着順・価格順など）</a:t>
            </a:r>
            <a:endParaRPr lang="en-US" sz="1200" b="1" dirty="0"/>
          </a:p>
        </p:txBody>
      </p:sp>
      <p:sp>
        <p:nvSpPr>
          <p:cNvPr id="78" name="Shape 76"/>
          <p:cNvSpPr/>
          <p:nvPr/>
        </p:nvSpPr>
        <p:spPr>
          <a:xfrm>
            <a:off x="3474720" y="1627632"/>
            <a:ext cx="502920" cy="2778633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977640" y="518693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087368" y="573900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087368" y="573900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434840" y="526008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商品一覧グリッド：画像・ブランド名・価格を表示、タップで商品詳細へ</a:t>
            </a:r>
            <a:endParaRPr lang="en-US" sz="1200" b="1" dirty="0"/>
          </a:p>
        </p:txBody>
      </p:sp>
      <p:sp>
        <p:nvSpPr>
          <p:cNvPr id="83" name="Shape 81"/>
          <p:cNvSpPr/>
          <p:nvPr/>
        </p:nvSpPr>
        <p:spPr>
          <a:xfrm>
            <a:off x="3474720" y="3090672"/>
            <a:ext cx="502920" cy="2767203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商品詳細　(Product Detail)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商品詳細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♡  ⇧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2926080" cy="155448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2926080" cy="155448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548640" y="2743200"/>
            <a:ext cx="292608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7860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○  ○  ○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8640" y="28163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8640" y="2980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商品名がここに入ります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255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¥ 12,000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32552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♡ 追加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2926080" cy="411480"/>
          </a:xfrm>
          <a:prstGeom prst="rect">
            <a:avLst/>
          </a:prstGeom>
          <a:solidFill>
            <a:srgbClr val="F4F3EF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" y="3639312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0976" y="3602736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出品者：〇〇さん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50976" y="376732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 (評価 4.2)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商品説明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4261104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サイズ／状態／素材などのテキスト説明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48640" y="47274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レビュー・評価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60320" y="47274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すべて見る &gt;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493776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★★★★★「状態も良く満足です」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48640" y="527608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関連商品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548640" y="594360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536192" y="544068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536192" y="544068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V="1">
            <a:off x="1536192" y="594360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23744" y="544068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23744" y="544068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V="1">
            <a:off x="2523744" y="594360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" y="6053328"/>
            <a:ext cx="2926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4360" y="6080760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" y="6080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♡ お気に入り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554480" y="6080760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554480" y="6080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カート追加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514600" y="6080760"/>
            <a:ext cx="914400" cy="256032"/>
          </a:xfrm>
          <a:prstGeom prst="rect">
            <a:avLst/>
          </a:prstGeom>
          <a:solidFill>
            <a:srgbClr val="3F4B32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14600" y="6080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購入手続き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977640" y="832104"/>
            <a:ext cx="7635240" cy="616077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087368" y="1021270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087368" y="102127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34840" y="905256"/>
            <a:ext cx="7068312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ヘッダー：戻るボタン／商品詳細ラベル／お気に入り・シェアアイコン</a:t>
            </a:r>
            <a:endParaRPr lang="en-US" sz="1200" b="1" dirty="0"/>
          </a:p>
        </p:txBody>
      </p:sp>
      <p:sp>
        <p:nvSpPr>
          <p:cNvPr id="48" name="Shape 46"/>
          <p:cNvSpPr/>
          <p:nvPr/>
        </p:nvSpPr>
        <p:spPr>
          <a:xfrm>
            <a:off x="3474720" y="1005840"/>
            <a:ext cx="502920" cy="134302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977640" y="1557909"/>
            <a:ext cx="7635240" cy="616077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087368" y="1747076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087368" y="17470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434840" y="1631061"/>
            <a:ext cx="7068312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メイン画像（複数枚をスワイプして確認、下部にドットで枚数表示</a:t>
            </a:r>
            <a:r>
              <a:rPr lang="en-US" sz="9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 flipV="1">
            <a:off x="3474720" y="1865948"/>
            <a:ext cx="502920" cy="100013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977640" y="2283714"/>
            <a:ext cx="7635240" cy="616077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087368" y="2472881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087368" y="247288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434840" y="2356866"/>
            <a:ext cx="7068312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ブランド名・商品名・価格＋お気に入り追加ボタン</a:t>
            </a:r>
            <a:endParaRPr lang="en-US" sz="1200" b="1" dirty="0"/>
          </a:p>
        </p:txBody>
      </p:sp>
      <p:sp>
        <p:nvSpPr>
          <p:cNvPr id="58" name="Shape 56"/>
          <p:cNvSpPr/>
          <p:nvPr/>
        </p:nvSpPr>
        <p:spPr>
          <a:xfrm flipV="1">
            <a:off x="3474720" y="2591753"/>
            <a:ext cx="502920" cy="535495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977640" y="3009519"/>
            <a:ext cx="7635240" cy="616077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087368" y="3198686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087368" y="31986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34840" y="3082671"/>
            <a:ext cx="7068312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出品者情報：アイコン・名前・評価スター（評価機能と連動）</a:t>
            </a:r>
            <a:endParaRPr lang="en-US" sz="1200" b="1" dirty="0"/>
          </a:p>
        </p:txBody>
      </p:sp>
      <p:sp>
        <p:nvSpPr>
          <p:cNvPr id="63" name="Shape 61"/>
          <p:cNvSpPr/>
          <p:nvPr/>
        </p:nvSpPr>
        <p:spPr>
          <a:xfrm flipV="1">
            <a:off x="3474720" y="3317558"/>
            <a:ext cx="502920" cy="458915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977640" y="3735324"/>
            <a:ext cx="7635240" cy="616077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087368" y="3924490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087368" y="39244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434840" y="3808476"/>
            <a:ext cx="7068312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商品説明：サイズ・状態・素材など</a:t>
            </a:r>
            <a:endParaRPr lang="en-US" sz="1200" b="1" dirty="0"/>
          </a:p>
        </p:txBody>
      </p:sp>
      <p:sp>
        <p:nvSpPr>
          <p:cNvPr id="68" name="Shape 66"/>
          <p:cNvSpPr/>
          <p:nvPr/>
        </p:nvSpPr>
        <p:spPr>
          <a:xfrm flipV="1">
            <a:off x="3474720" y="4043362"/>
            <a:ext cx="502920" cy="391478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977640" y="4461129"/>
            <a:ext cx="7635240" cy="616077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087368" y="4650295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087368" y="4650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434840" y="4534281"/>
            <a:ext cx="7068312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レビュー欄（レビュー機能と連動、購入者の声を表示）</a:t>
            </a:r>
            <a:endParaRPr lang="en-US" sz="1200" b="1" dirty="0"/>
          </a:p>
        </p:txBody>
      </p:sp>
      <p:sp>
        <p:nvSpPr>
          <p:cNvPr id="73" name="Shape 71"/>
          <p:cNvSpPr/>
          <p:nvPr/>
        </p:nvSpPr>
        <p:spPr>
          <a:xfrm flipV="1">
            <a:off x="3474720" y="4769167"/>
            <a:ext cx="502920" cy="278321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977640" y="5186934"/>
            <a:ext cx="7635240" cy="616077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087368" y="5376100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087368" y="53761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434840" y="5260086"/>
            <a:ext cx="7068312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関連商品（同じブランド／カテゴリのおすすめ）</a:t>
            </a:r>
            <a:endParaRPr lang="en-US" sz="1200" b="1" dirty="0"/>
          </a:p>
        </p:txBody>
      </p:sp>
      <p:sp>
        <p:nvSpPr>
          <p:cNvPr id="78" name="Shape 76"/>
          <p:cNvSpPr/>
          <p:nvPr/>
        </p:nvSpPr>
        <p:spPr>
          <a:xfrm flipV="1">
            <a:off x="3474720" y="5494972"/>
            <a:ext cx="502920" cy="192596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977640" y="5912739"/>
            <a:ext cx="7635240" cy="616077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087368" y="6101905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087368" y="610190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434840" y="5985891"/>
            <a:ext cx="7068312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下部固定バー：お気に入り／カート追加／購入手続きボタン</a:t>
            </a:r>
            <a:endParaRPr lang="en-US" sz="1200" b="1" dirty="0"/>
          </a:p>
        </p:txBody>
      </p:sp>
      <p:sp>
        <p:nvSpPr>
          <p:cNvPr id="83" name="Shape 81"/>
          <p:cNvSpPr/>
          <p:nvPr/>
        </p:nvSpPr>
        <p:spPr>
          <a:xfrm>
            <a:off x="3474720" y="6208776"/>
            <a:ext cx="502920" cy="18288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カート　(Cart / Cart List)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カート（3）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0" y="868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編集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9536" y="1307592"/>
            <a:ext cx="594360" cy="59436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9536" y="1307592"/>
            <a:ext cx="594360" cy="59436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859536" y="1901952"/>
            <a:ext cx="59436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36192" y="13075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商品名テキスト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36192" y="1554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¥ 4,000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536192" y="1764792"/>
            <a:ext cx="7772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36192" y="17647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1  +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27248" y="13075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210312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9536" y="2176272"/>
            <a:ext cx="594360" cy="59436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9536" y="2176272"/>
            <a:ext cx="594360" cy="59436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859536" y="2770632"/>
            <a:ext cx="59436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36192" y="2176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商品名テキスト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536192" y="2423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¥ 4,000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536192" y="2633472"/>
            <a:ext cx="7772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36192" y="26334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1  +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127248" y="21762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297180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59536" y="3044952"/>
            <a:ext cx="594360" cy="59436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59536" y="3044952"/>
            <a:ext cx="594360" cy="59436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V="1">
            <a:off x="859536" y="3639312"/>
            <a:ext cx="59436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536192" y="3044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商品名テキスト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536192" y="3291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¥ 4,000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536192" y="3502152"/>
            <a:ext cx="7772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536192" y="35021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1  +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127248" y="3044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" y="4023360"/>
            <a:ext cx="2926080" cy="777240"/>
          </a:xfrm>
          <a:prstGeom prst="rect">
            <a:avLst/>
          </a:prstGeom>
          <a:solidFill>
            <a:srgbClr val="F4F3EF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" y="4096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小計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468880" y="40965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¥ 9,200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40080" y="43159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送料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468880" y="4315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¥ 500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40080" y="4553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468880" y="4553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¥ 9,700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8640" y="4937760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配送先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46304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神奈川県横浜市…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971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変更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48640" y="6053328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94360" y="6080760"/>
            <a:ext cx="2834640" cy="310896"/>
          </a:xfrm>
          <a:prstGeom prst="rect">
            <a:avLst/>
          </a:prstGeom>
          <a:solidFill>
            <a:srgbClr val="3F4B32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94360" y="60807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レジに進む（3点） ¥9,700</a:t>
            </a:r>
            <a:endParaRPr lang="en-US" sz="750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0E8A2DDD-F857-A43F-8586-7F1B5B1F26D4}"/>
              </a:ext>
            </a:extLst>
          </p:cNvPr>
          <p:cNvSpPr txBox="1"/>
          <p:nvPr/>
        </p:nvSpPr>
        <p:spPr>
          <a:xfrm>
            <a:off x="3237484" y="728841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820A3D6A-BBC9-C682-B484-9D42BEB910BB}"/>
              </a:ext>
            </a:extLst>
          </p:cNvPr>
          <p:cNvSpPr txBox="1"/>
          <p:nvPr/>
        </p:nvSpPr>
        <p:spPr>
          <a:xfrm>
            <a:off x="473710" y="74121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A7E7C68D-110A-5768-8178-DDEA6C581CA9}"/>
              </a:ext>
            </a:extLst>
          </p:cNvPr>
          <p:cNvSpPr txBox="1"/>
          <p:nvPr/>
        </p:nvSpPr>
        <p:spPr>
          <a:xfrm>
            <a:off x="1510030" y="732213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B7513883-DE3E-1ACF-8DDE-111ABA9BEDE8}"/>
              </a:ext>
            </a:extLst>
          </p:cNvPr>
          <p:cNvSpPr txBox="1"/>
          <p:nvPr/>
        </p:nvSpPr>
        <p:spPr>
          <a:xfrm>
            <a:off x="677164" y="1195923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9C51519-AC87-9B3C-7428-83EDE28FFDC7}"/>
              </a:ext>
            </a:extLst>
          </p:cNvPr>
          <p:cNvSpPr txBox="1"/>
          <p:nvPr/>
        </p:nvSpPr>
        <p:spPr>
          <a:xfrm>
            <a:off x="1408684" y="1196294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66D97FB7-AD53-35F0-8C3B-3EE327CECDA0}"/>
              </a:ext>
            </a:extLst>
          </p:cNvPr>
          <p:cNvSpPr txBox="1"/>
          <p:nvPr/>
        </p:nvSpPr>
        <p:spPr>
          <a:xfrm>
            <a:off x="1408684" y="143426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7A1A7D77-ABF6-7EE3-5316-6D74E791008D}"/>
              </a:ext>
            </a:extLst>
          </p:cNvPr>
          <p:cNvSpPr txBox="1"/>
          <p:nvPr/>
        </p:nvSpPr>
        <p:spPr>
          <a:xfrm>
            <a:off x="3054604" y="1188674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⑧</a:t>
            </a: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8277ACD9-1A30-F701-F42C-62B4A7A33224}"/>
              </a:ext>
            </a:extLst>
          </p:cNvPr>
          <p:cNvSpPr txBox="1"/>
          <p:nvPr/>
        </p:nvSpPr>
        <p:spPr>
          <a:xfrm>
            <a:off x="1410208" y="1663745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⑦</a:t>
            </a: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448AD06A-1E51-2E48-E99E-E405AF0006E6}"/>
              </a:ext>
            </a:extLst>
          </p:cNvPr>
          <p:cNvSpPr txBox="1"/>
          <p:nvPr/>
        </p:nvSpPr>
        <p:spPr>
          <a:xfrm>
            <a:off x="2763012" y="4063722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⑨</a:t>
            </a: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8C722947-BC04-6F78-3B48-1DC445D73CE9}"/>
              </a:ext>
            </a:extLst>
          </p:cNvPr>
          <p:cNvSpPr txBox="1"/>
          <p:nvPr/>
        </p:nvSpPr>
        <p:spPr>
          <a:xfrm>
            <a:off x="2771648" y="428451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⑩</a:t>
            </a: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C57F5B5E-ED7F-239F-FC33-584C658789D7}"/>
              </a:ext>
            </a:extLst>
          </p:cNvPr>
          <p:cNvSpPr txBox="1"/>
          <p:nvPr/>
        </p:nvSpPr>
        <p:spPr>
          <a:xfrm>
            <a:off x="2772156" y="452985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⑪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6076B468-6710-B349-26FE-C0E277AC0112}"/>
              </a:ext>
            </a:extLst>
          </p:cNvPr>
          <p:cNvSpPr txBox="1"/>
          <p:nvPr/>
        </p:nvSpPr>
        <p:spPr>
          <a:xfrm>
            <a:off x="443992" y="585082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⑬</a:t>
            </a: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5A96085F-D79B-53F6-F5F4-BC015B36B260}"/>
              </a:ext>
            </a:extLst>
          </p:cNvPr>
          <p:cNvSpPr txBox="1"/>
          <p:nvPr/>
        </p:nvSpPr>
        <p:spPr>
          <a:xfrm>
            <a:off x="482600" y="4873752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7E71658-D67E-0149-ED75-18CCABC4A28B}"/>
              </a:ext>
            </a:extLst>
          </p:cNvPr>
          <p:cNvSpPr txBox="1"/>
          <p:nvPr/>
        </p:nvSpPr>
        <p:spPr>
          <a:xfrm>
            <a:off x="2961132" y="4885782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お気に入り　(Favorites / Favorites List)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お気に入り（8）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保存したアイテム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548640" y="202996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43584" y="14904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6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391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13" name="Text 11"/>
          <p:cNvSpPr/>
          <p:nvPr/>
        </p:nvSpPr>
        <p:spPr>
          <a:xfrm>
            <a:off x="548640" y="21579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1554480" y="1463040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54480" y="1463040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1554480" y="202996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49424" y="14904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6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20391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1554480" y="21579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2560320" y="1463040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0" y="1463040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2560320" y="202996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55264" y="14904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6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0" y="20391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2560320" y="21579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548640" y="2331720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" y="2331720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548640" y="289864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43584" y="235915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6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290779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548640" y="30266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1554480" y="2331720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554480" y="2331720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flipV="1">
            <a:off x="1554480" y="289864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249424" y="235915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6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54480" y="290779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1554480" y="30266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2560320" y="2331720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60320" y="2331720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flipV="1">
            <a:off x="2560320" y="289864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55264" y="235915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6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290779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2560320" y="30266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548640" y="3200400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8640" y="3200400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 flipV="1">
            <a:off x="548640" y="376732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43584" y="32278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6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" y="37764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548640" y="38953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1554480" y="3200400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554480" y="3200400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 flipV="1">
            <a:off x="1554480" y="376732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249424" y="32278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6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554480" y="37764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1554480" y="38953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560320" y="3200400"/>
            <a:ext cx="91440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560320" y="3200400"/>
            <a:ext cx="914400" cy="566928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 flipV="1">
            <a:off x="2560320" y="3767328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55264" y="32278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6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560320" y="37764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ブランド名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2560320" y="38953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3977640" y="832104"/>
            <a:ext cx="7635240" cy="182575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087368" y="162610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087368" y="16261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434840" y="905256"/>
            <a:ext cx="7068312" cy="167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ヘッダー：お気に入り件数の表示</a:t>
            </a:r>
            <a:endParaRPr lang="en-US" sz="1200" b="1" dirty="0"/>
          </a:p>
        </p:txBody>
      </p:sp>
      <p:sp>
        <p:nvSpPr>
          <p:cNvPr id="66" name="Shape 64"/>
          <p:cNvSpPr/>
          <p:nvPr/>
        </p:nvSpPr>
        <p:spPr>
          <a:xfrm>
            <a:off x="3474720" y="1005840"/>
            <a:ext cx="502920" cy="739140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977640" y="2767584"/>
            <a:ext cx="7635240" cy="182575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087368" y="356158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087368" y="35615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434840" y="2840736"/>
            <a:ext cx="7068312" cy="167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保存済みアイテムのセクションラベル</a:t>
            </a:r>
            <a:endParaRPr lang="en-US" sz="1200" b="1" dirty="0"/>
          </a:p>
        </p:txBody>
      </p:sp>
      <p:sp>
        <p:nvSpPr>
          <p:cNvPr id="71" name="Shape 69"/>
          <p:cNvSpPr/>
          <p:nvPr/>
        </p:nvSpPr>
        <p:spPr>
          <a:xfrm>
            <a:off x="3474720" y="1298448"/>
            <a:ext cx="502920" cy="2382012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977640" y="4703064"/>
            <a:ext cx="7635240" cy="182575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4087368" y="549706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087368" y="54970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434840" y="4776216"/>
            <a:ext cx="7068312" cy="167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商品カード：画像・ブランド名・価格。右上のハート（♥）タップで解除</a:t>
            </a:r>
            <a:endParaRPr lang="en-US" sz="1200" b="1" dirty="0"/>
          </a:p>
        </p:txBody>
      </p:sp>
      <p:sp>
        <p:nvSpPr>
          <p:cNvPr id="76" name="Shape 74"/>
          <p:cNvSpPr/>
          <p:nvPr/>
        </p:nvSpPr>
        <p:spPr>
          <a:xfrm>
            <a:off x="3474720" y="2743200"/>
            <a:ext cx="502920" cy="2872740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プロフィール　(Profile)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プロフィール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08960" y="868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1234440"/>
            <a:ext cx="731520" cy="731520"/>
          </a:xfrm>
          <a:prstGeom prst="ellipse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391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ユーザー名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2585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2025年6月から利用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24414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  4.5（32件の評価）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325880" y="2651760"/>
            <a:ext cx="1371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2588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プロフィールを編集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960120" cy="256032"/>
          </a:xfrm>
          <a:prstGeom prst="rect">
            <a:avLst/>
          </a:prstGeom>
          <a:solidFill>
            <a:srgbClr val="1C1C1A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出品中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554480" y="3063240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14600" y="3063240"/>
            <a:ext cx="960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14600" y="30632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お気に入り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548640" y="393192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9410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1554480" y="342900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54480" y="342900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V="1">
            <a:off x="1554480" y="393192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54480" y="39410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2560320" y="342900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0" y="342900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2560320" y="393192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0" y="39410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548640" y="420624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flipV="1">
            <a:off x="548640" y="470916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71830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1554480" y="420624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554480" y="420624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flipV="1">
            <a:off x="1554480" y="470916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554480" y="471830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2560320" y="4206240"/>
            <a:ext cx="91440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60320" y="4206240"/>
            <a:ext cx="914400" cy="50292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V="1">
            <a:off x="2560320" y="470916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60320" y="471830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 価格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3977640" y="83210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087368" y="114223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087368" y="114223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34840" y="90525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ヘッダー：戻る／プロフィールラベル／設定アイコンでユーザー設定へ</a:t>
            </a:r>
            <a:endParaRPr lang="en-US" sz="1200" b="1" dirty="0"/>
          </a:p>
        </p:txBody>
      </p:sp>
      <p:sp>
        <p:nvSpPr>
          <p:cNvPr id="48" name="Shape 46"/>
          <p:cNvSpPr/>
          <p:nvPr/>
        </p:nvSpPr>
        <p:spPr>
          <a:xfrm>
            <a:off x="3474720" y="1005840"/>
            <a:ext cx="502920" cy="255270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977640" y="179984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087368" y="210997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087368" y="21099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434840" y="187299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プロフィール写真・ユーザー名・登録日</a:t>
            </a:r>
            <a:endParaRPr lang="en-US" sz="1200" b="1" dirty="0"/>
          </a:p>
        </p:txBody>
      </p:sp>
      <p:sp>
        <p:nvSpPr>
          <p:cNvPr id="53" name="Shape 51"/>
          <p:cNvSpPr/>
          <p:nvPr/>
        </p:nvSpPr>
        <p:spPr>
          <a:xfrm>
            <a:off x="3474720" y="1600200"/>
            <a:ext cx="502920" cy="628650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977640" y="276758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087368" y="307771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087368" y="307771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434840" y="284073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評価の平均スコア表示（評価機能・レビュー機能と連動）</a:t>
            </a:r>
            <a:endParaRPr lang="en-US" sz="1200" b="1" dirty="0"/>
          </a:p>
        </p:txBody>
      </p:sp>
      <p:sp>
        <p:nvSpPr>
          <p:cNvPr id="58" name="Shape 56"/>
          <p:cNvSpPr/>
          <p:nvPr/>
        </p:nvSpPr>
        <p:spPr>
          <a:xfrm>
            <a:off x="3474720" y="2532888"/>
            <a:ext cx="502920" cy="663702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977640" y="373532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087368" y="404545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087368" y="40454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34840" y="380847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「プロフィールを編集」→ 会員情報編集へ</a:t>
            </a:r>
            <a:endParaRPr lang="en-US" sz="1200" b="1" dirty="0"/>
          </a:p>
        </p:txBody>
      </p:sp>
      <p:sp>
        <p:nvSpPr>
          <p:cNvPr id="63" name="Shape 61"/>
          <p:cNvSpPr/>
          <p:nvPr/>
        </p:nvSpPr>
        <p:spPr>
          <a:xfrm>
            <a:off x="3474720" y="2779776"/>
            <a:ext cx="502920" cy="1384554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977640" y="470306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087368" y="501319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087368" y="501319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434840" y="477621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タブ切り替え：出品中／評価／お気に入り</a:t>
            </a:r>
            <a:endParaRPr lang="en-US" sz="1200" b="1" dirty="0"/>
          </a:p>
        </p:txBody>
      </p:sp>
      <p:sp>
        <p:nvSpPr>
          <p:cNvPr id="68" name="Shape 66"/>
          <p:cNvSpPr/>
          <p:nvPr/>
        </p:nvSpPr>
        <p:spPr>
          <a:xfrm>
            <a:off x="3474720" y="3191256"/>
            <a:ext cx="502920" cy="1940814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977640" y="567080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087368" y="598093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087368" y="598093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434840" y="574395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選択中タブの内容をグリッド表示（例：出品中の商品）</a:t>
            </a:r>
            <a:endParaRPr lang="en-US" sz="1200" b="1" dirty="0"/>
          </a:p>
        </p:txBody>
      </p:sp>
      <p:sp>
        <p:nvSpPr>
          <p:cNvPr id="73" name="Shape 71"/>
          <p:cNvSpPr/>
          <p:nvPr/>
        </p:nvSpPr>
        <p:spPr>
          <a:xfrm>
            <a:off x="3474720" y="3977640"/>
            <a:ext cx="502920" cy="2122170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評価・レビュー　(Rating / Review)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評価・レビュー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2926080" cy="960120"/>
          </a:xfrm>
          <a:prstGeom prst="rect">
            <a:avLst/>
          </a:prstGeom>
          <a:solidFill>
            <a:srgbClr val="F4F3EF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783080" y="1280160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1965960" y="1307592"/>
            <a:ext cx="13716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65960" y="1307592"/>
            <a:ext cx="1097280" cy="73152"/>
          </a:xfrm>
          <a:prstGeom prst="rect">
            <a:avLst/>
          </a:prstGeom>
          <a:solidFill>
            <a:srgbClr val="3F4B32"/>
          </a:solidFill>
          <a:ln w="12700">
            <a:solidFill>
              <a:srgbClr val="3F4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83080" y="144475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1965960" y="1472184"/>
            <a:ext cx="13716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65960" y="1472184"/>
            <a:ext cx="891540" cy="73152"/>
          </a:xfrm>
          <a:prstGeom prst="rect">
            <a:avLst/>
          </a:prstGeom>
          <a:solidFill>
            <a:srgbClr val="3F4B32"/>
          </a:solidFill>
          <a:ln w="12700">
            <a:solidFill>
              <a:srgbClr val="3F4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83080" y="160934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1965960" y="1636776"/>
            <a:ext cx="13716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965960" y="1636776"/>
            <a:ext cx="480060" cy="73152"/>
          </a:xfrm>
          <a:prstGeom prst="rect">
            <a:avLst/>
          </a:prstGeom>
          <a:solidFill>
            <a:srgbClr val="3F4B32"/>
          </a:solidFill>
          <a:ln w="12700">
            <a:solidFill>
              <a:srgbClr val="3F4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83080" y="177393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1965960" y="1801368"/>
            <a:ext cx="13716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65960" y="1801368"/>
            <a:ext cx="205740" cy="73152"/>
          </a:xfrm>
          <a:prstGeom prst="rect">
            <a:avLst/>
          </a:prstGeom>
          <a:solidFill>
            <a:srgbClr val="3F4B32"/>
          </a:solidFill>
          <a:ln w="12700">
            <a:solidFill>
              <a:srgbClr val="3F4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83080" y="19385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1965960" y="1965960"/>
            <a:ext cx="13716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965960" y="1965960"/>
            <a:ext cx="109728" cy="73152"/>
          </a:xfrm>
          <a:prstGeom prst="rect">
            <a:avLst/>
          </a:prstGeom>
          <a:solidFill>
            <a:srgbClr val="3F4B32"/>
          </a:solidFill>
          <a:ln w="12700">
            <a:solidFill>
              <a:srgbClr val="3F4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2377440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" y="2450592"/>
            <a:ext cx="256032" cy="256032"/>
          </a:xfrm>
          <a:prstGeom prst="ellipse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50976" y="24323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〇〇さん　★★★★★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950976" y="2624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「梱包も丁寧で状態も良く満足です」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48640" y="3063240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" y="3136392"/>
            <a:ext cx="256032" cy="256032"/>
          </a:xfrm>
          <a:prstGeom prst="ellipse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50976" y="31181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〇〇さん　★★★★★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950976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「梱包も丁寧で状態も良く満足です」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48640" y="3749040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1792" y="3822192"/>
            <a:ext cx="256032" cy="256032"/>
          </a:xfrm>
          <a:prstGeom prst="ellipse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50976" y="38039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〇〇さん　★★★★★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950976" y="3995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「梱包も丁寧で状態も良く満足です」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977640" y="83210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087368" y="138417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087368" y="138417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34840" y="90525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ヘッダー：戻るボタン／評価・レビューラベル</a:t>
            </a:r>
            <a:endParaRPr lang="en-US" sz="1200" b="1" dirty="0"/>
          </a:p>
        </p:txBody>
      </p:sp>
      <p:sp>
        <p:nvSpPr>
          <p:cNvPr id="41" name="Shape 39"/>
          <p:cNvSpPr/>
          <p:nvPr/>
        </p:nvSpPr>
        <p:spPr>
          <a:xfrm>
            <a:off x="3474720" y="1005840"/>
            <a:ext cx="502920" cy="497205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977640" y="228371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087368" y="283578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087368" y="283578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34840" y="235686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総合評価のスコアとレーティング分布（5〜1星のヒストグラム）</a:t>
            </a:r>
            <a:endParaRPr lang="en-US" sz="1200" b="1" dirty="0"/>
          </a:p>
        </p:txBody>
      </p:sp>
      <p:sp>
        <p:nvSpPr>
          <p:cNvPr id="46" name="Shape 44"/>
          <p:cNvSpPr/>
          <p:nvPr/>
        </p:nvSpPr>
        <p:spPr>
          <a:xfrm>
            <a:off x="3474720" y="1682496"/>
            <a:ext cx="502920" cy="1272159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977640" y="373532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087368" y="428739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087368" y="428739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434840" y="380847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個別レビュー：評価者名・★評価・コメント</a:t>
            </a:r>
            <a:endParaRPr lang="en-US" sz="1200" b="1" dirty="0"/>
          </a:p>
        </p:txBody>
      </p:sp>
      <p:sp>
        <p:nvSpPr>
          <p:cNvPr id="51" name="Shape 49"/>
          <p:cNvSpPr/>
          <p:nvPr/>
        </p:nvSpPr>
        <p:spPr>
          <a:xfrm>
            <a:off x="3474720" y="2720340"/>
            <a:ext cx="502920" cy="1685925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977640" y="518693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087368" y="573900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087368" y="573900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434840" y="526008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このページは商品詳細・プロフィールの両方からリンクされる</a:t>
            </a:r>
            <a:endParaRPr lang="en-US" sz="1200" b="1" dirty="0"/>
          </a:p>
        </p:txBody>
      </p:sp>
      <p:sp>
        <p:nvSpPr>
          <p:cNvPr id="56" name="Shape 54"/>
          <p:cNvSpPr/>
          <p:nvPr/>
        </p:nvSpPr>
        <p:spPr>
          <a:xfrm>
            <a:off x="3474720" y="4091940"/>
            <a:ext cx="502920" cy="1765935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会員情報編集　(Edit Member Info)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会員情報編集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71800" y="850392"/>
            <a:ext cx="502920" cy="256032"/>
          </a:xfrm>
          <a:prstGeom prst="rect">
            <a:avLst/>
          </a:prstGeom>
          <a:solidFill>
            <a:srgbClr val="3F4B32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8503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120700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名前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8640" y="1362456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36245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〇〇 〇〇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48640" y="183794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メールアドレス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199339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1993392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example@mail.com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8640" y="246888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電話番号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2624328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090-XXXX-XXXX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8640" y="309981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住所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3255264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3255264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神奈川県横浜市…</a:t>
            </a:r>
            <a:endParaRPr lang="en-US" sz="75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7E49EB1-8B3B-DD97-5C8F-073D268B2156}"/>
              </a:ext>
            </a:extLst>
          </p:cNvPr>
          <p:cNvSpPr txBox="1"/>
          <p:nvPr/>
        </p:nvSpPr>
        <p:spPr>
          <a:xfrm>
            <a:off x="2707259" y="747556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6D92908-C07D-9949-9890-A363781055FC}"/>
              </a:ext>
            </a:extLst>
          </p:cNvPr>
          <p:cNvSpPr txBox="1"/>
          <p:nvPr/>
        </p:nvSpPr>
        <p:spPr>
          <a:xfrm>
            <a:off x="481076" y="75436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E8436DF-577F-2EBD-0677-EC7E54E49841}"/>
              </a:ext>
            </a:extLst>
          </p:cNvPr>
          <p:cNvSpPr txBox="1"/>
          <p:nvPr/>
        </p:nvSpPr>
        <p:spPr>
          <a:xfrm>
            <a:off x="1097280" y="1764214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759B14A-4746-7E5A-37FA-F2890C99CB64}"/>
              </a:ext>
            </a:extLst>
          </p:cNvPr>
          <p:cNvSpPr txBox="1"/>
          <p:nvPr/>
        </p:nvSpPr>
        <p:spPr>
          <a:xfrm>
            <a:off x="710184" y="1152144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9FDF44E-47A9-BAEE-3192-60E5EE169506}"/>
              </a:ext>
            </a:extLst>
          </p:cNvPr>
          <p:cNvSpPr txBox="1"/>
          <p:nvPr/>
        </p:nvSpPr>
        <p:spPr>
          <a:xfrm>
            <a:off x="855980" y="238773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325B802-B389-F7B9-EAA1-DF6A95C4894E}"/>
              </a:ext>
            </a:extLst>
          </p:cNvPr>
          <p:cNvSpPr txBox="1"/>
          <p:nvPr/>
        </p:nvSpPr>
        <p:spPr>
          <a:xfrm>
            <a:off x="649859" y="3028662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ユーザー設定　(User Settings)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ユーザー設定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通知設定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560320" y="12344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◯ ｜ ●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1691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言語設定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60320" y="16916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日本語 &gt;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2148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プライバシー設定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60320" y="21488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2606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ヘルプ・お問い合わせ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560320" y="26060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30632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ログアウト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60320" y="30632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3520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6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退会する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60320" y="35204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8A0F-F55A-5D73-BE5E-197181BC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45F709-3590-6181-D367-985A60726CFC}"/>
              </a:ext>
            </a:extLst>
          </p:cNvPr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ユーザー設定　(User Settings)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029D26D-B73D-1774-46C7-021C4C371E7D}"/>
              </a:ext>
            </a:extLst>
          </p:cNvPr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A90742F-BF35-9E8E-2A88-9C9B69473F00}"/>
              </a:ext>
            </a:extLst>
          </p:cNvPr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4801F4C-B555-5EBB-FEDE-0CA2E718D2DF}"/>
              </a:ext>
            </a:extLst>
          </p:cNvPr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購入手続き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DD730C1-D6A6-4D35-A991-6A964F637A8D}"/>
              </a:ext>
            </a:extLst>
          </p:cNvPr>
          <p:cNvSpPr/>
          <p:nvPr/>
        </p:nvSpPr>
        <p:spPr>
          <a:xfrm>
            <a:off x="658368" y="1138023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１．お届け先入力</a:t>
            </a:r>
            <a:endParaRPr lang="en-US" sz="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8E4B431-97FD-4FAD-4A27-D2BD53406E90}"/>
              </a:ext>
            </a:extLst>
          </p:cNvPr>
          <p:cNvSpPr/>
          <p:nvPr/>
        </p:nvSpPr>
        <p:spPr>
          <a:xfrm>
            <a:off x="559307" y="1691101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698C6BB-BA58-B856-FB85-24DBAAAA0F41}"/>
              </a:ext>
            </a:extLst>
          </p:cNvPr>
          <p:cNvSpPr/>
          <p:nvPr/>
        </p:nvSpPr>
        <p:spPr>
          <a:xfrm>
            <a:off x="639318" y="1380075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〇 登録済みの住所を使う</a:t>
            </a:r>
            <a:endParaRPr lang="en-US" sz="7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97CE5DE-E240-957A-BBAC-37BCE04CD275}"/>
              </a:ext>
            </a:extLst>
          </p:cNvPr>
          <p:cNvSpPr/>
          <p:nvPr/>
        </p:nvSpPr>
        <p:spPr>
          <a:xfrm>
            <a:off x="2560320" y="30632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1E6EDFD-2E5C-B4BA-F9B0-A143CC264B3C}"/>
              </a:ext>
            </a:extLst>
          </p:cNvPr>
          <p:cNvSpPr/>
          <p:nvPr/>
        </p:nvSpPr>
        <p:spPr>
          <a:xfrm>
            <a:off x="2560320" y="35204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FEF748B4-FDD1-EEC2-6F1B-82A1744B2F05}"/>
              </a:ext>
            </a:extLst>
          </p:cNvPr>
          <p:cNvSpPr/>
          <p:nvPr/>
        </p:nvSpPr>
        <p:spPr>
          <a:xfrm>
            <a:off x="666621" y="1699916"/>
            <a:ext cx="26527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/>
              <a:t>登録済みの住所を表示</a:t>
            </a:r>
            <a:r>
              <a:rPr lang="en-US" altLang="ja-JP" sz="750" dirty="0"/>
              <a:t>/</a:t>
            </a:r>
            <a:r>
              <a:rPr lang="ja-JP" altLang="en-US" sz="750" dirty="0"/>
              <a:t>舐めれば「登録されていません」</a:t>
            </a:r>
            <a:endParaRPr lang="en-US" sz="7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39EBB6AA-A211-8A5C-9783-877F04009B54}"/>
              </a:ext>
            </a:extLst>
          </p:cNvPr>
          <p:cNvSpPr/>
          <p:nvPr/>
        </p:nvSpPr>
        <p:spPr>
          <a:xfrm>
            <a:off x="639318" y="204109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〇 新しいお届け先を入力する</a:t>
            </a:r>
            <a:endParaRPr lang="en-US" sz="75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F6D88ED1-3D6E-E988-EB2D-8431F538A7E5}"/>
              </a:ext>
            </a:extLst>
          </p:cNvPr>
          <p:cNvSpPr/>
          <p:nvPr/>
        </p:nvSpPr>
        <p:spPr>
          <a:xfrm>
            <a:off x="548640" y="308660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317E386B-4918-69BA-6EC5-2277E4271C0E}"/>
              </a:ext>
            </a:extLst>
          </p:cNvPr>
          <p:cNvSpPr/>
          <p:nvPr/>
        </p:nvSpPr>
        <p:spPr>
          <a:xfrm>
            <a:off x="621792" y="3108562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〇〇 〇〇</a:t>
            </a:r>
            <a:endParaRPr lang="en-US" sz="75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88A7A812-B2BC-B96E-417F-8B266553D396}"/>
              </a:ext>
            </a:extLst>
          </p:cNvPr>
          <p:cNvSpPr/>
          <p:nvPr/>
        </p:nvSpPr>
        <p:spPr>
          <a:xfrm>
            <a:off x="544575" y="3498799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メールアドレス</a:t>
            </a:r>
            <a:endParaRPr lang="en-US" sz="7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FF018932-094E-82E7-CF72-67EBA87ECD9A}"/>
              </a:ext>
            </a:extLst>
          </p:cNvPr>
          <p:cNvSpPr/>
          <p:nvPr/>
        </p:nvSpPr>
        <p:spPr>
          <a:xfrm>
            <a:off x="559307" y="3705766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8AEDBCA2-3F26-B16D-02FE-30B4A983E15D}"/>
              </a:ext>
            </a:extLst>
          </p:cNvPr>
          <p:cNvSpPr/>
          <p:nvPr/>
        </p:nvSpPr>
        <p:spPr>
          <a:xfrm>
            <a:off x="639318" y="370949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example@mail.com</a:t>
            </a:r>
            <a:endParaRPr lang="en-US" sz="75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E0538E7C-B912-4E93-87BB-CE3232364843}"/>
              </a:ext>
            </a:extLst>
          </p:cNvPr>
          <p:cNvSpPr/>
          <p:nvPr/>
        </p:nvSpPr>
        <p:spPr>
          <a:xfrm>
            <a:off x="544575" y="4116547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電話番号</a:t>
            </a:r>
            <a:endParaRPr lang="en-US" sz="700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C483FF57-01C6-D2AC-997C-5F29AD581BA1}"/>
              </a:ext>
            </a:extLst>
          </p:cNvPr>
          <p:cNvSpPr/>
          <p:nvPr/>
        </p:nvSpPr>
        <p:spPr>
          <a:xfrm>
            <a:off x="548640" y="4281011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1C47852B-0323-7E07-87B9-3D5B6CF35367}"/>
              </a:ext>
            </a:extLst>
          </p:cNvPr>
          <p:cNvSpPr/>
          <p:nvPr/>
        </p:nvSpPr>
        <p:spPr>
          <a:xfrm>
            <a:off x="603504" y="429470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090-XXXX-XXXX</a:t>
            </a:r>
            <a:endParaRPr lang="en-US" sz="75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C688DFBE-83D3-7AF6-A038-F331B0FCA42D}"/>
              </a:ext>
            </a:extLst>
          </p:cNvPr>
          <p:cNvSpPr/>
          <p:nvPr/>
        </p:nvSpPr>
        <p:spPr>
          <a:xfrm>
            <a:off x="548640" y="469069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00" dirty="0">
                <a:solidFill>
                  <a:srgbClr val="8A887F"/>
                </a:solidFill>
                <a:latin typeface="Arial" pitchFamily="34" charset="0"/>
                <a:cs typeface="Arial" pitchFamily="34" charset="-120"/>
              </a:rPr>
              <a:t>郵便番号</a:t>
            </a:r>
            <a:endParaRPr lang="en-US" sz="7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FBB4383F-FDE8-4C32-AF86-EEFF5D1AD3FB}"/>
              </a:ext>
            </a:extLst>
          </p:cNvPr>
          <p:cNvSpPr/>
          <p:nvPr/>
        </p:nvSpPr>
        <p:spPr>
          <a:xfrm>
            <a:off x="529942" y="4877326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B14F1B99-0F40-8486-6E71-AC8B1D1BCC93}"/>
              </a:ext>
            </a:extLst>
          </p:cNvPr>
          <p:cNvSpPr/>
          <p:nvPr/>
        </p:nvSpPr>
        <p:spPr>
          <a:xfrm>
            <a:off x="621792" y="4892397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愛知</a:t>
            </a: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県</a:t>
            </a:r>
            <a:endParaRPr lang="en-US" sz="750" dirty="0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82E8B592-C8D4-516D-7A1F-DF62139CC093}"/>
              </a:ext>
            </a:extLst>
          </p:cNvPr>
          <p:cNvSpPr/>
          <p:nvPr/>
        </p:nvSpPr>
        <p:spPr>
          <a:xfrm>
            <a:off x="559307" y="2885895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00" dirty="0"/>
              <a:t>名前</a:t>
            </a:r>
            <a:endParaRPr lang="en-US" sz="700" dirty="0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D4D3F033-BD32-3897-85AE-135E3CFE973D}"/>
              </a:ext>
            </a:extLst>
          </p:cNvPr>
          <p:cNvSpPr/>
          <p:nvPr/>
        </p:nvSpPr>
        <p:spPr>
          <a:xfrm>
            <a:off x="548640" y="5916653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00" dirty="0"/>
              <a:t>市区町村・番地</a:t>
            </a:r>
            <a:endParaRPr lang="en-US" sz="7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17ECBA59-61E3-5A4C-69CA-54B206331984}"/>
              </a:ext>
            </a:extLst>
          </p:cNvPr>
          <p:cNvSpPr/>
          <p:nvPr/>
        </p:nvSpPr>
        <p:spPr>
          <a:xfrm>
            <a:off x="529336" y="529629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00" dirty="0">
                <a:solidFill>
                  <a:srgbClr val="8A887F"/>
                </a:solidFill>
                <a:latin typeface="Arial" pitchFamily="34" charset="0"/>
                <a:cs typeface="Arial" pitchFamily="34" charset="-120"/>
              </a:rPr>
              <a:t>都道府県</a:t>
            </a:r>
            <a:endParaRPr lang="en-US" sz="700" dirty="0"/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C581F730-BE01-1850-CE4F-51D42978AED0}"/>
              </a:ext>
            </a:extLst>
          </p:cNvPr>
          <p:cNvSpPr/>
          <p:nvPr/>
        </p:nvSpPr>
        <p:spPr>
          <a:xfrm>
            <a:off x="521688" y="548293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 altLang="ja-JP" sz="750" dirty="0"/>
          </a:p>
          <a:p>
            <a:r>
              <a:rPr lang="ja-JP" altLang="en-US" sz="750" dirty="0"/>
              <a:t>名古屋市中区・・・</a:t>
            </a:r>
            <a:endParaRPr lang="en-US" sz="750" dirty="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D104D289-BDB0-1EBA-354D-C3FB5FBA0109}"/>
              </a:ext>
            </a:extLst>
          </p:cNvPr>
          <p:cNvSpPr/>
          <p:nvPr/>
        </p:nvSpPr>
        <p:spPr>
          <a:xfrm>
            <a:off x="529942" y="6116167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 sz="75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29F2D8B0-162E-482F-026C-8F50E1B2803F}"/>
              </a:ext>
            </a:extLst>
          </p:cNvPr>
          <p:cNvSpPr/>
          <p:nvPr/>
        </p:nvSpPr>
        <p:spPr>
          <a:xfrm>
            <a:off x="743204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E820EBD5-05E5-76E7-2928-B3EE7EF58345}"/>
              </a:ext>
            </a:extLst>
          </p:cNvPr>
          <p:cNvSpPr/>
          <p:nvPr/>
        </p:nvSpPr>
        <p:spPr>
          <a:xfrm>
            <a:off x="3949445" y="779759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C76FC2FB-0531-D3CF-AA69-89ED2FEC9CEE}"/>
              </a:ext>
            </a:extLst>
          </p:cNvPr>
          <p:cNvSpPr/>
          <p:nvPr/>
        </p:nvSpPr>
        <p:spPr>
          <a:xfrm>
            <a:off x="4151122" y="140653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２．支払い方法選択</a:t>
            </a:r>
            <a:endParaRPr lang="en-US" sz="75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BD3DEB90-819F-007A-ED31-FFFF45353C21}"/>
              </a:ext>
            </a:extLst>
          </p:cNvPr>
          <p:cNvSpPr/>
          <p:nvPr/>
        </p:nvSpPr>
        <p:spPr>
          <a:xfrm>
            <a:off x="4090924" y="180887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〇 クレジットカード</a:t>
            </a:r>
            <a:endParaRPr lang="en-US" sz="75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9FD51FBD-9A31-E70E-16C8-A2FD9AAF5109}"/>
              </a:ext>
            </a:extLst>
          </p:cNvPr>
          <p:cNvSpPr/>
          <p:nvPr/>
        </p:nvSpPr>
        <p:spPr>
          <a:xfrm>
            <a:off x="4029964" y="2375841"/>
            <a:ext cx="1539240" cy="237705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7B361FCD-F6A8-95F7-7601-7B0E67A281C1}"/>
              </a:ext>
            </a:extLst>
          </p:cNvPr>
          <p:cNvSpPr/>
          <p:nvPr/>
        </p:nvSpPr>
        <p:spPr>
          <a:xfrm>
            <a:off x="4029964" y="221121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00" dirty="0"/>
              <a:t>カード番号　　　　　　　　　　　　　　　有効期限</a:t>
            </a:r>
            <a:endParaRPr lang="en-US" sz="70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45D938CD-5C78-9D6F-F294-CE910D03F012}"/>
              </a:ext>
            </a:extLst>
          </p:cNvPr>
          <p:cNvSpPr/>
          <p:nvPr/>
        </p:nvSpPr>
        <p:spPr>
          <a:xfrm>
            <a:off x="5835904" y="2388940"/>
            <a:ext cx="1120140" cy="237705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2E7DB076-6A98-74AD-D486-70A2C417E33D}"/>
              </a:ext>
            </a:extLst>
          </p:cNvPr>
          <p:cNvSpPr/>
          <p:nvPr/>
        </p:nvSpPr>
        <p:spPr>
          <a:xfrm>
            <a:off x="4029964" y="268669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00" dirty="0"/>
              <a:t>名義人　　　　　　　　　　　　　　　　　セキュリティコード</a:t>
            </a:r>
            <a:endParaRPr lang="en-US" sz="70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9D7192C6-3F55-A4B1-8063-4D42585E6377}"/>
              </a:ext>
            </a:extLst>
          </p:cNvPr>
          <p:cNvSpPr/>
          <p:nvPr/>
        </p:nvSpPr>
        <p:spPr>
          <a:xfrm>
            <a:off x="4029964" y="2857640"/>
            <a:ext cx="1539240" cy="237705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FC8FD9DE-80BD-3C97-9BFA-F5C2948A055A}"/>
              </a:ext>
            </a:extLst>
          </p:cNvPr>
          <p:cNvSpPr/>
          <p:nvPr/>
        </p:nvSpPr>
        <p:spPr>
          <a:xfrm>
            <a:off x="5835904" y="2842947"/>
            <a:ext cx="1120140" cy="237705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9DE9D174-1540-9C1E-034B-D6E94E79BD9A}"/>
              </a:ext>
            </a:extLst>
          </p:cNvPr>
          <p:cNvSpPr/>
          <p:nvPr/>
        </p:nvSpPr>
        <p:spPr>
          <a:xfrm>
            <a:off x="4065524" y="3259937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〇コンビニ払い</a:t>
            </a:r>
            <a:endParaRPr lang="en-US" altLang="ja-JP" sz="750" dirty="0">
              <a:solidFill>
                <a:srgbClr val="1C1C1A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endParaRPr lang="en-US" sz="750" dirty="0">
              <a:solidFill>
                <a:srgbClr val="1C1C1A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〇銀行振込</a:t>
            </a:r>
            <a:endParaRPr lang="en-US" sz="750" dirty="0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B4CDBE31-CDBA-CC91-01E8-77D82861CA6A}"/>
              </a:ext>
            </a:extLst>
          </p:cNvPr>
          <p:cNvSpPr/>
          <p:nvPr/>
        </p:nvSpPr>
        <p:spPr>
          <a:xfrm>
            <a:off x="4151122" y="3753281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３．配送方法の選択</a:t>
            </a:r>
            <a:endParaRPr lang="en-US" sz="750" dirty="0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1BD0CF33-3138-646A-0D8F-151D2B345BBF}"/>
              </a:ext>
            </a:extLst>
          </p:cNvPr>
          <p:cNvSpPr/>
          <p:nvPr/>
        </p:nvSpPr>
        <p:spPr>
          <a:xfrm>
            <a:off x="4065524" y="413373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〇らくらくメルカリ便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送料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210</a:t>
            </a: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円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)</a:t>
            </a:r>
          </a:p>
          <a:p>
            <a:pPr marL="0" indent="0" algn="l">
              <a:buNone/>
            </a:pPr>
            <a:endParaRPr lang="en-US" sz="750" dirty="0">
              <a:solidFill>
                <a:srgbClr val="1C1C1A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〇ゆうパック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(600</a:t>
            </a: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円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75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27F621AA-98F8-B1FE-6153-B32D746A61F1}"/>
              </a:ext>
            </a:extLst>
          </p:cNvPr>
          <p:cNvSpPr/>
          <p:nvPr/>
        </p:nvSpPr>
        <p:spPr>
          <a:xfrm>
            <a:off x="4151122" y="4715355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４．注文内容</a:t>
            </a:r>
            <a:endParaRPr lang="en-US" sz="750" dirty="0"/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49ACA1E2-054E-9BED-1C10-C7D37D313C04}"/>
              </a:ext>
            </a:extLst>
          </p:cNvPr>
          <p:cNvSpPr/>
          <p:nvPr/>
        </p:nvSpPr>
        <p:spPr>
          <a:xfrm>
            <a:off x="4205224" y="5128146"/>
            <a:ext cx="594360" cy="59436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11D4D306-B6AC-1DCC-27B1-EC7ED3BF056D}"/>
              </a:ext>
            </a:extLst>
          </p:cNvPr>
          <p:cNvSpPr/>
          <p:nvPr/>
        </p:nvSpPr>
        <p:spPr>
          <a:xfrm>
            <a:off x="4234942" y="5138601"/>
            <a:ext cx="594360" cy="59436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3F2613EB-520E-14C1-450E-04CB3F0BC44A}"/>
              </a:ext>
            </a:extLst>
          </p:cNvPr>
          <p:cNvSpPr/>
          <p:nvPr/>
        </p:nvSpPr>
        <p:spPr>
          <a:xfrm>
            <a:off x="4957064" y="5109319"/>
            <a:ext cx="2011680" cy="64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商品名 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/ </a:t>
            </a: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カラー 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/ </a:t>
            </a: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サイズ 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/ </a:t>
            </a: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出品者名</a:t>
            </a:r>
            <a:endParaRPr lang="en-US" altLang="ja-JP" sz="750" dirty="0">
              <a:solidFill>
                <a:srgbClr val="1C1C1A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endParaRPr lang="en-US" altLang="ja-JP" sz="750" dirty="0">
              <a:solidFill>
                <a:srgbClr val="1C1C1A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endParaRPr lang="en-US" altLang="ja-JP" sz="750" dirty="0">
              <a:solidFill>
                <a:srgbClr val="1C1C1A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商品価格 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/</a:t>
            </a: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 数量 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/  </a:t>
            </a: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小計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 / </a:t>
            </a: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送料</a:t>
            </a:r>
            <a:r>
              <a:rPr lang="en-US" altLang="ja-JP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 / </a:t>
            </a: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合計</a:t>
            </a:r>
            <a:endParaRPr lang="en-US" altLang="ja-JP" sz="750" dirty="0">
              <a:solidFill>
                <a:srgbClr val="1C1C1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70" name="Shape 48">
            <a:extLst>
              <a:ext uri="{FF2B5EF4-FFF2-40B4-BE49-F238E27FC236}">
                <a16:creationId xmlns:a16="http://schemas.microsoft.com/office/drawing/2014/main" id="{69885D49-B127-6948-4E23-848E2DD13E2C}"/>
              </a:ext>
            </a:extLst>
          </p:cNvPr>
          <p:cNvSpPr/>
          <p:nvPr/>
        </p:nvSpPr>
        <p:spPr>
          <a:xfrm>
            <a:off x="4499357" y="6108995"/>
            <a:ext cx="2011680" cy="318521"/>
          </a:xfrm>
          <a:prstGeom prst="rect">
            <a:avLst/>
          </a:prstGeom>
          <a:solidFill>
            <a:srgbClr val="3F4B32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4F9069FC-39DE-678F-D562-3B71EC44A650}"/>
              </a:ext>
            </a:extLst>
          </p:cNvPr>
          <p:cNvSpPr txBox="1"/>
          <p:nvPr/>
        </p:nvSpPr>
        <p:spPr>
          <a:xfrm>
            <a:off x="5071364" y="6160533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solidFill>
                  <a:schemeClr val="bg1"/>
                </a:solidFill>
              </a:rPr>
              <a:t>確認画面へ進む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DD3397B-4B04-0A96-FB19-01ACAEDDF224}"/>
              </a:ext>
            </a:extLst>
          </p:cNvPr>
          <p:cNvSpPr txBox="1"/>
          <p:nvPr/>
        </p:nvSpPr>
        <p:spPr>
          <a:xfrm>
            <a:off x="457200" y="76191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FF3F643-1C81-9FDF-8FC8-CA39BC93E4D8}"/>
              </a:ext>
            </a:extLst>
          </p:cNvPr>
          <p:cNvSpPr txBox="1"/>
          <p:nvPr/>
        </p:nvSpPr>
        <p:spPr>
          <a:xfrm>
            <a:off x="361378" y="1617931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C697095-B105-29EA-7D49-B72B6D062AB3}"/>
              </a:ext>
            </a:extLst>
          </p:cNvPr>
          <p:cNvSpPr txBox="1"/>
          <p:nvPr/>
        </p:nvSpPr>
        <p:spPr>
          <a:xfrm>
            <a:off x="872999" y="4637073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⑧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2E330E7-2A52-5068-DDBE-5D5FC8A45081}"/>
              </a:ext>
            </a:extLst>
          </p:cNvPr>
          <p:cNvSpPr txBox="1"/>
          <p:nvPr/>
        </p:nvSpPr>
        <p:spPr>
          <a:xfrm>
            <a:off x="372458" y="208846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59B17C5-775D-DC48-07E3-84C05E881F74}"/>
              </a:ext>
            </a:extLst>
          </p:cNvPr>
          <p:cNvSpPr txBox="1"/>
          <p:nvPr/>
        </p:nvSpPr>
        <p:spPr>
          <a:xfrm>
            <a:off x="413511" y="1341284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4B2C9959-8251-663A-5336-9E2F754B163E}"/>
              </a:ext>
            </a:extLst>
          </p:cNvPr>
          <p:cNvSpPr/>
          <p:nvPr/>
        </p:nvSpPr>
        <p:spPr>
          <a:xfrm rot="5400000">
            <a:off x="3154022" y="1730022"/>
            <a:ext cx="143304" cy="434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00" dirty="0">
                <a:solidFill>
                  <a:srgbClr val="8A887F"/>
                </a:solidFill>
                <a:latin typeface="Arial" pitchFamily="34" charset="0"/>
                <a:cs typeface="Arial" pitchFamily="34" charset="-120"/>
              </a:rPr>
              <a:t>＞</a:t>
            </a:r>
            <a:endParaRPr lang="en-US" sz="700" dirty="0"/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16F3974E-894A-30D7-3205-773E038E8CD9}"/>
              </a:ext>
            </a:extLst>
          </p:cNvPr>
          <p:cNvSpPr/>
          <p:nvPr/>
        </p:nvSpPr>
        <p:spPr>
          <a:xfrm>
            <a:off x="566165" y="231978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99DC5839-2556-6458-0F4E-738079C912E7}"/>
              </a:ext>
            </a:extLst>
          </p:cNvPr>
          <p:cNvSpPr/>
          <p:nvPr/>
        </p:nvSpPr>
        <p:spPr>
          <a:xfrm>
            <a:off x="4106164" y="89301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00" dirty="0"/>
              <a:t>建物名・部屋番号</a:t>
            </a:r>
            <a:endParaRPr lang="en-US" sz="700" dirty="0"/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486E98FC-F728-BED7-BDA3-551B985474A5}"/>
              </a:ext>
            </a:extLst>
          </p:cNvPr>
          <p:cNvSpPr/>
          <p:nvPr/>
        </p:nvSpPr>
        <p:spPr>
          <a:xfrm>
            <a:off x="4090924" y="1090704"/>
            <a:ext cx="2828036" cy="279919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FACFB0E-FFE1-C98C-8D3D-33EBE389C501}"/>
              </a:ext>
            </a:extLst>
          </p:cNvPr>
          <p:cNvSpPr txBox="1"/>
          <p:nvPr/>
        </p:nvSpPr>
        <p:spPr>
          <a:xfrm>
            <a:off x="366776" y="233141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F27F94FA-B990-8503-5439-4A8CE946FD57}"/>
              </a:ext>
            </a:extLst>
          </p:cNvPr>
          <p:cNvSpPr txBox="1"/>
          <p:nvPr/>
        </p:nvSpPr>
        <p:spPr>
          <a:xfrm>
            <a:off x="677164" y="2829167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0613A1BE-4BBD-6E12-275B-D4D44FACB0D3}"/>
              </a:ext>
            </a:extLst>
          </p:cNvPr>
          <p:cNvSpPr txBox="1"/>
          <p:nvPr/>
        </p:nvSpPr>
        <p:spPr>
          <a:xfrm>
            <a:off x="273559" y="3052195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3B939399-E168-0EAE-F6AB-1F5540190529}"/>
              </a:ext>
            </a:extLst>
          </p:cNvPr>
          <p:cNvSpPr txBox="1"/>
          <p:nvPr/>
        </p:nvSpPr>
        <p:spPr>
          <a:xfrm>
            <a:off x="425959" y="3204595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481E3FFF-6320-6FE0-A8F4-AFEEF9538097}"/>
              </a:ext>
            </a:extLst>
          </p:cNvPr>
          <p:cNvSpPr txBox="1"/>
          <p:nvPr/>
        </p:nvSpPr>
        <p:spPr>
          <a:xfrm>
            <a:off x="1100836" y="3433451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⑦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A0DE0D1E-702E-D17D-4190-44A87FE3815D}"/>
              </a:ext>
            </a:extLst>
          </p:cNvPr>
          <p:cNvSpPr txBox="1"/>
          <p:nvPr/>
        </p:nvSpPr>
        <p:spPr>
          <a:xfrm>
            <a:off x="822960" y="4062780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⑫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DD9A05FD-8978-3DAE-A981-154C464C8345}"/>
              </a:ext>
            </a:extLst>
          </p:cNvPr>
          <p:cNvSpPr txBox="1"/>
          <p:nvPr/>
        </p:nvSpPr>
        <p:spPr>
          <a:xfrm>
            <a:off x="1146303" y="5823434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⑩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04FC0448-448F-E155-108C-ECFFFC5DB623}"/>
              </a:ext>
            </a:extLst>
          </p:cNvPr>
          <p:cNvSpPr txBox="1"/>
          <p:nvPr/>
        </p:nvSpPr>
        <p:spPr>
          <a:xfrm>
            <a:off x="822960" y="5235174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⑨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D09D4790-AC3B-FD8A-DED4-EDD40F033DDD}"/>
              </a:ext>
            </a:extLst>
          </p:cNvPr>
          <p:cNvSpPr txBox="1"/>
          <p:nvPr/>
        </p:nvSpPr>
        <p:spPr>
          <a:xfrm>
            <a:off x="4737608" y="81614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⑪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769D078F-1443-5D0A-BD08-8560AC37E4AC}"/>
              </a:ext>
            </a:extLst>
          </p:cNvPr>
          <p:cNvSpPr txBox="1"/>
          <p:nvPr/>
        </p:nvSpPr>
        <p:spPr>
          <a:xfrm>
            <a:off x="4232402" y="2619851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⑱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E80E3631-8022-501F-C0C0-A3C9D7EE129D}"/>
              </a:ext>
            </a:extLst>
          </p:cNvPr>
          <p:cNvSpPr txBox="1"/>
          <p:nvPr/>
        </p:nvSpPr>
        <p:spPr>
          <a:xfrm>
            <a:off x="6104382" y="2135727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⑰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EA5D964D-3182-70B0-A027-40D7F3B9E2DE}"/>
              </a:ext>
            </a:extLst>
          </p:cNvPr>
          <p:cNvSpPr txBox="1"/>
          <p:nvPr/>
        </p:nvSpPr>
        <p:spPr>
          <a:xfrm>
            <a:off x="4396359" y="2147271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⑯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7C41EAD5-D5C8-80CD-86C4-CD31B999AF31}"/>
              </a:ext>
            </a:extLst>
          </p:cNvPr>
          <p:cNvSpPr txBox="1"/>
          <p:nvPr/>
        </p:nvSpPr>
        <p:spPr>
          <a:xfrm>
            <a:off x="3859022" y="185872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⑮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56FD78CC-479C-1FF0-0A37-1FEF1302C830}"/>
              </a:ext>
            </a:extLst>
          </p:cNvPr>
          <p:cNvSpPr txBox="1"/>
          <p:nvPr/>
        </p:nvSpPr>
        <p:spPr>
          <a:xfrm>
            <a:off x="6551041" y="2635029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⑲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F7BC29C5-3CDF-4E32-37BA-3F11145C185F}"/>
              </a:ext>
            </a:extLst>
          </p:cNvPr>
          <p:cNvSpPr txBox="1"/>
          <p:nvPr/>
        </p:nvSpPr>
        <p:spPr>
          <a:xfrm>
            <a:off x="4755133" y="4990304"/>
            <a:ext cx="2087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㉓　　㉔　㉕　　㉖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01E3698B-2A11-49B6-3419-8E761B3C4DDC}"/>
              </a:ext>
            </a:extLst>
          </p:cNvPr>
          <p:cNvSpPr txBox="1"/>
          <p:nvPr/>
        </p:nvSpPr>
        <p:spPr>
          <a:xfrm>
            <a:off x="3866135" y="423554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㉑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0693A942-EEDA-27AF-7E62-C115FC3AC79A}"/>
              </a:ext>
            </a:extLst>
          </p:cNvPr>
          <p:cNvSpPr txBox="1"/>
          <p:nvPr/>
        </p:nvSpPr>
        <p:spPr>
          <a:xfrm>
            <a:off x="3874517" y="3985852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⑳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AACCA7A1-DF11-E3B2-A958-B7AA704EA7BE}"/>
              </a:ext>
            </a:extLst>
          </p:cNvPr>
          <p:cNvSpPr txBox="1"/>
          <p:nvPr/>
        </p:nvSpPr>
        <p:spPr>
          <a:xfrm>
            <a:off x="3861563" y="3361482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⑮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19E0576B-6B8A-51C9-318D-AFC7F319D8EC}"/>
              </a:ext>
            </a:extLst>
          </p:cNvPr>
          <p:cNvSpPr txBox="1"/>
          <p:nvPr/>
        </p:nvSpPr>
        <p:spPr>
          <a:xfrm>
            <a:off x="3857371" y="3135578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⑭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108" name="Text 6">
            <a:extLst>
              <a:ext uri="{FF2B5EF4-FFF2-40B4-BE49-F238E27FC236}">
                <a16:creationId xmlns:a16="http://schemas.microsoft.com/office/drawing/2014/main" id="{488F86DF-E4F3-1236-6270-1BDABD8961EB}"/>
              </a:ext>
            </a:extLst>
          </p:cNvPr>
          <p:cNvSpPr/>
          <p:nvPr/>
        </p:nvSpPr>
        <p:spPr>
          <a:xfrm>
            <a:off x="5202937" y="572250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：</a:t>
            </a:r>
            <a:endParaRPr lang="en-US" altLang="ja-JP" sz="750" dirty="0">
              <a:solidFill>
                <a:srgbClr val="1C1C1A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ja-JP" altLang="en-US" sz="750" dirty="0">
                <a:solidFill>
                  <a:srgbClr val="1C1C1A"/>
                </a:solidFill>
                <a:latin typeface="Arial" pitchFamily="34" charset="0"/>
                <a:cs typeface="Arial" pitchFamily="34" charset="-120"/>
              </a:rPr>
              <a:t>：</a:t>
            </a:r>
            <a:endParaRPr lang="en-US" sz="750" dirty="0"/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B71D107D-1623-E860-9CB5-B53040E67F98}"/>
              </a:ext>
            </a:extLst>
          </p:cNvPr>
          <p:cNvSpPr txBox="1"/>
          <p:nvPr/>
        </p:nvSpPr>
        <p:spPr>
          <a:xfrm>
            <a:off x="4227831" y="5950515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㉜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9119F048-43B7-D458-55B9-5A48D0FDBEE7}"/>
              </a:ext>
            </a:extLst>
          </p:cNvPr>
          <p:cNvSpPr txBox="1"/>
          <p:nvPr/>
        </p:nvSpPr>
        <p:spPr>
          <a:xfrm>
            <a:off x="3988181" y="4947686"/>
            <a:ext cx="291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㉒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3E2D0D2A-B83D-6D03-B609-83458C361366}"/>
              </a:ext>
            </a:extLst>
          </p:cNvPr>
          <p:cNvSpPr txBox="1"/>
          <p:nvPr/>
        </p:nvSpPr>
        <p:spPr>
          <a:xfrm>
            <a:off x="4744592" y="5346734"/>
            <a:ext cx="18898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㉗　　㉘　㉙　㉚　㉛</a:t>
            </a:r>
            <a:endParaRPr kumimoji="1" lang="en-US" altLang="ja-JP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394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画面切り替え　(Screen Switching)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Re:Tailor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6072" y="1261872"/>
            <a:ext cx="1408176" cy="310896"/>
          </a:xfrm>
          <a:prstGeom prst="rect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2618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 ショッピング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011680" y="12618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スタイル相談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926080" cy="320040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選択したモードに応じて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このエリアの内容が切り替わる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977640" y="83210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87368" y="138417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87368" y="138417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34840" y="90525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ヘッダーは共通のまま表示される</a:t>
            </a:r>
            <a:endParaRPr lang="en-US" sz="1200" b="1" dirty="0"/>
          </a:p>
        </p:txBody>
      </p:sp>
      <p:sp>
        <p:nvSpPr>
          <p:cNvPr id="16" name="Shape 14"/>
          <p:cNvSpPr/>
          <p:nvPr/>
        </p:nvSpPr>
        <p:spPr>
          <a:xfrm>
            <a:off x="3474720" y="1028700"/>
            <a:ext cx="502920" cy="474345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977640" y="228371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87368" y="283578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87368" y="283578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235686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画面切り替えトグル：「🛍 ショッピング」⇄「✨ スタイル相談」</a:t>
            </a:r>
            <a:endParaRPr lang="en-US" sz="1200" b="1" dirty="0"/>
          </a:p>
        </p:txBody>
      </p:sp>
      <p:sp>
        <p:nvSpPr>
          <p:cNvPr id="21" name="Shape 19"/>
          <p:cNvSpPr/>
          <p:nvPr/>
        </p:nvSpPr>
        <p:spPr>
          <a:xfrm>
            <a:off x="3474720" y="1417320"/>
            <a:ext cx="502920" cy="1537335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77640" y="373532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87368" y="428739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87368" y="428739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380847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選択中のモードに応じて下のコンテンツがホーム画面／AIアドバイス画面に切り替わる</a:t>
            </a:r>
            <a:endParaRPr lang="en-US" sz="1200" b="1" dirty="0"/>
          </a:p>
        </p:txBody>
      </p:sp>
      <p:sp>
        <p:nvSpPr>
          <p:cNvPr id="26" name="Shape 24"/>
          <p:cNvSpPr/>
          <p:nvPr/>
        </p:nvSpPr>
        <p:spPr>
          <a:xfrm>
            <a:off x="3474720" y="3429000"/>
            <a:ext cx="502920" cy="977265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977640" y="5186934"/>
            <a:ext cx="7635240" cy="134188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087368" y="5739003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87368" y="573900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34840" y="5260086"/>
            <a:ext cx="7068312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「スタイル相談」を選ぶとコーディネート／色彩調和の判定画面へ進む</a:t>
            </a:r>
            <a:endParaRPr lang="en-US" sz="1200" b="1" dirty="0"/>
          </a:p>
        </p:txBody>
      </p:sp>
      <p:sp>
        <p:nvSpPr>
          <p:cNvPr id="31" name="Shape 29"/>
          <p:cNvSpPr/>
          <p:nvPr/>
        </p:nvSpPr>
        <p:spPr>
          <a:xfrm>
            <a:off x="3474720" y="4526280"/>
            <a:ext cx="502920" cy="1331595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コーディネート診断　(Outfit / Color-Harmony Judgment)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10896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コーディネート診断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あなたが選んだアイテム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914400" cy="64008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914400" cy="64008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548640" y="201168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536192" y="1371600"/>
            <a:ext cx="914400" cy="64008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36192" y="1371600"/>
            <a:ext cx="914400" cy="64008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V="1">
            <a:off x="1536192" y="201168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23744" y="1371600"/>
            <a:ext cx="914400" cy="64008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23744" y="1371600"/>
            <a:ext cx="914400" cy="64008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2523744" y="201168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148840"/>
            <a:ext cx="2926080" cy="141732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AIによるコーディネート提案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4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相性度  92%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3749040"/>
            <a:ext cx="182880" cy="182880"/>
          </a:xfrm>
          <a:prstGeom prst="ellipse">
            <a:avLst/>
          </a:prstGeom>
          <a:solidFill>
            <a:srgbClr val="3F4B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06040" y="3749040"/>
            <a:ext cx="182880" cy="182880"/>
          </a:xfrm>
          <a:prstGeom prst="ellipse">
            <a:avLst/>
          </a:prstGeom>
          <a:solidFill>
            <a:srgbClr val="8A6A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34640" y="3749040"/>
            <a:ext cx="182880" cy="182880"/>
          </a:xfrm>
          <a:prstGeom prst="ellipse">
            <a:avLst/>
          </a:prstGeom>
          <a:solidFill>
            <a:srgbClr val="A639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063240" y="3749040"/>
            <a:ext cx="182880" cy="182880"/>
          </a:xfrm>
          <a:prstGeom prst="ellipse">
            <a:avLst/>
          </a:prstGeom>
          <a:solidFill>
            <a:srgbClr val="C7C4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91840" y="3749040"/>
            <a:ext cx="182880" cy="182880"/>
          </a:xfrm>
          <a:prstGeom prst="ellipse">
            <a:avLst/>
          </a:prstGeom>
          <a:solidFill>
            <a:srgbClr val="1C1C1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0050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色の相性を分析してスコア化しています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この着こなしに合うアイテム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914400" cy="54864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914400" cy="54864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V="1">
            <a:off x="548640" y="502920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536192" y="4480560"/>
            <a:ext cx="914400" cy="54864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536192" y="4480560"/>
            <a:ext cx="914400" cy="54864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V="1">
            <a:off x="1536192" y="502920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23744" y="4480560"/>
            <a:ext cx="914400" cy="548640"/>
          </a:xfrm>
          <a:prstGeom prst="rect">
            <a:avLst/>
          </a:prstGeom>
          <a:solidFill>
            <a:srgbClr val="F4F3E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23744" y="4480560"/>
            <a:ext cx="914400" cy="54864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flipV="1">
            <a:off x="2523744" y="5029200"/>
            <a:ext cx="914400" cy="0"/>
          </a:xfrm>
          <a:prstGeom prst="line">
            <a:avLst/>
          </a:prstGeom>
          <a:noFill/>
          <a:ln w="9525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48640" y="5257800"/>
            <a:ext cx="1417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52578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やり直す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057400" y="5257800"/>
            <a:ext cx="1417320" cy="329184"/>
          </a:xfrm>
          <a:prstGeom prst="rect">
            <a:avLst/>
          </a:prstGeom>
          <a:solidFill>
            <a:srgbClr val="3F4B32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057400" y="52578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この組み合わせを保存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977640" y="83210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087368" y="114223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087368" y="114223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34840" y="90525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ヘッダー：戻るボタン／コーディネート診断ラベル</a:t>
            </a:r>
            <a:endParaRPr lang="en-US" sz="1200" b="1" dirty="0"/>
          </a:p>
        </p:txBody>
      </p:sp>
      <p:sp>
        <p:nvSpPr>
          <p:cNvPr id="44" name="Shape 42"/>
          <p:cNvSpPr/>
          <p:nvPr/>
        </p:nvSpPr>
        <p:spPr>
          <a:xfrm>
            <a:off x="3474720" y="1005840"/>
            <a:ext cx="502920" cy="255270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977640" y="179984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087368" y="210997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087368" y="21099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34840" y="187299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ユーザーが選んだ、または手持ちの商品として選択したアイテム一覧</a:t>
            </a:r>
            <a:endParaRPr lang="en-US" sz="1200" b="1" dirty="0"/>
          </a:p>
        </p:txBody>
      </p:sp>
      <p:sp>
        <p:nvSpPr>
          <p:cNvPr id="49" name="Shape 47"/>
          <p:cNvSpPr/>
          <p:nvPr/>
        </p:nvSpPr>
        <p:spPr>
          <a:xfrm>
            <a:off x="3474720" y="1691640"/>
            <a:ext cx="502920" cy="537210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977640" y="276758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087368" y="307771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087368" y="307771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434840" y="284073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AIが生成したコーディネート提案のビジュアル表示</a:t>
            </a:r>
            <a:endParaRPr lang="en-US" sz="1200" b="1" dirty="0"/>
          </a:p>
        </p:txBody>
      </p:sp>
      <p:sp>
        <p:nvSpPr>
          <p:cNvPr id="54" name="Shape 52"/>
          <p:cNvSpPr/>
          <p:nvPr/>
        </p:nvSpPr>
        <p:spPr>
          <a:xfrm>
            <a:off x="3474720" y="2862072"/>
            <a:ext cx="502920" cy="334518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977640" y="373532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087368" y="404545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087368" y="40454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434840" y="380847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色彩調和スコア（相性度）＋検出されたカラーパレット</a:t>
            </a:r>
            <a:endParaRPr lang="en-US" sz="1200" b="1" dirty="0"/>
          </a:p>
        </p:txBody>
      </p:sp>
      <p:sp>
        <p:nvSpPr>
          <p:cNvPr id="59" name="Shape 57"/>
          <p:cNvSpPr/>
          <p:nvPr/>
        </p:nvSpPr>
        <p:spPr>
          <a:xfrm>
            <a:off x="3474720" y="3840480"/>
            <a:ext cx="502920" cy="323850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977640" y="470306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087368" y="501319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087368" y="501319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434840" y="477621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この着こなしを完成させる追加おすすめアイテム</a:t>
            </a:r>
            <a:endParaRPr lang="en-US" sz="1200" b="1" dirty="0"/>
          </a:p>
        </p:txBody>
      </p:sp>
      <p:sp>
        <p:nvSpPr>
          <p:cNvPr id="64" name="Shape 62"/>
          <p:cNvSpPr/>
          <p:nvPr/>
        </p:nvSpPr>
        <p:spPr>
          <a:xfrm>
            <a:off x="3474720" y="4754880"/>
            <a:ext cx="502920" cy="377190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977640" y="5670804"/>
            <a:ext cx="7635240" cy="858012"/>
          </a:xfrm>
          <a:prstGeom prst="rect">
            <a:avLst/>
          </a:prstGeom>
          <a:solidFill>
            <a:srgbClr val="F2F2F0"/>
          </a:solidFill>
          <a:ln w="12700">
            <a:solidFill>
              <a:srgbClr val="C7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087368" y="5980938"/>
            <a:ext cx="237744" cy="237744"/>
          </a:xfrm>
          <a:prstGeom prst="ellipse">
            <a:avLst/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087368" y="598093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434840" y="5743956"/>
            <a:ext cx="7068312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「保存する」で気に入った組み合わせを保存／「やり直す」で再診断</a:t>
            </a:r>
            <a:endParaRPr lang="en-US" sz="1200" b="1" dirty="0"/>
          </a:p>
        </p:txBody>
      </p:sp>
      <p:sp>
        <p:nvSpPr>
          <p:cNvPr id="69" name="Shape 67"/>
          <p:cNvSpPr/>
          <p:nvPr/>
        </p:nvSpPr>
        <p:spPr>
          <a:xfrm>
            <a:off x="3474720" y="5422392"/>
            <a:ext cx="502920" cy="677418"/>
          </a:xfrm>
          <a:prstGeom prst="line">
            <a:avLst/>
          </a:prstGeom>
          <a:noFill/>
          <a:ln w="13970">
            <a:solidFill>
              <a:srgbClr val="B03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1007</Words>
  <Application>Microsoft Office PowerPoint</Application>
  <PresentationFormat>ワイド画面</PresentationFormat>
  <Paragraphs>491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Arial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NHIH12A20323 堀綾花</cp:lastModifiedBy>
  <cp:revision>10</cp:revision>
  <dcterms:created xsi:type="dcterms:W3CDTF">2026-07-30T04:21:12Z</dcterms:created>
  <dcterms:modified xsi:type="dcterms:W3CDTF">2026-09-03T06:53:17Z</dcterms:modified>
</cp:coreProperties>
</file>